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embeddedFontLst>
    <p:embeddedFont>
      <p:font typeface="Algerian" panose="04020705040A02060702" pitchFamily="82" charset="0"/>
      <p:regular r:id="rId8"/>
    </p:embeddedFont>
    <p:embeddedFont>
      <p:font typeface="Century Gothic" panose="020B0502020202020204" pitchFamily="34" charset="0"/>
      <p:regular r:id="rId9"/>
      <p:bold r:id="rId10"/>
      <p:italic r:id="rId11"/>
      <p:boldItalic r:id="rId12"/>
    </p:embeddedFont>
    <p:embeddedFont>
      <p:font typeface="Outfit"/>
      <p:bold r:id="rId13"/>
    </p:embeddedFont>
    <p:embeddedFont>
      <p:font typeface="Plus Jakarta Sans"/>
      <p:bold r:id="rId14"/>
    </p:embeddedFont>
    <p:embeddedFont>
      <p:font typeface="Wingdings 3" panose="05040102010807070707" pitchFamily="18" charset="2"/>
      <p:regular r:id="rId15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5" d="100"/>
          <a:sy n="105" d="100"/>
        </p:scale>
        <p:origin x="798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1.fntdata"/><Relationship Id="rId13" Type="http://schemas.openxmlformats.org/officeDocument/2006/relationships/font" Target="fonts/font6.fntdata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5.fntdata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4.fntdata"/><Relationship Id="rId5" Type="http://schemas.openxmlformats.org/officeDocument/2006/relationships/slide" Target="slides/slide4.xml"/><Relationship Id="rId15" Type="http://schemas.openxmlformats.org/officeDocument/2006/relationships/font" Target="fonts/font8.fntdata"/><Relationship Id="rId10" Type="http://schemas.openxmlformats.org/officeDocument/2006/relationships/font" Target="fonts/font3.fntdata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font" Target="fonts/font2.fntdata"/><Relationship Id="rId14" Type="http://schemas.openxmlformats.org/officeDocument/2006/relationships/font" Target="fonts/font7.fntdata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86647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05381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29846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51695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10768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554410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256702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1392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72584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14610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599834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65332113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170761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01811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07604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204664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21090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0872614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3" Type="http://schemas.openxmlformats.org/officeDocument/2006/relationships/image" Target="../media/image16.png"/><Relationship Id="rId7" Type="http://schemas.openxmlformats.org/officeDocument/2006/relationships/image" Target="../media/image20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9.png"/><Relationship Id="rId11" Type="http://schemas.openxmlformats.org/officeDocument/2006/relationships/image" Target="../media/image24.png"/><Relationship Id="rId5" Type="http://schemas.openxmlformats.org/officeDocument/2006/relationships/image" Target="../media/image18.png"/><Relationship Id="rId10" Type="http://schemas.openxmlformats.org/officeDocument/2006/relationships/image" Target="../media/image23.png"/><Relationship Id="rId4" Type="http://schemas.openxmlformats.org/officeDocument/2006/relationships/image" Target="../media/image17.png"/><Relationship Id="rId9" Type="http://schemas.openxmlformats.org/officeDocument/2006/relationships/image" Target="../media/image22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png"/><Relationship Id="rId3" Type="http://schemas.openxmlformats.org/officeDocument/2006/relationships/image" Target="../media/image26.png"/><Relationship Id="rId7" Type="http://schemas.openxmlformats.org/officeDocument/2006/relationships/image" Target="../media/image30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9.png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6.png"/><Relationship Id="rId5" Type="http://schemas.openxmlformats.org/officeDocument/2006/relationships/image" Target="../media/image35.png"/><Relationship Id="rId4" Type="http://schemas.openxmlformats.org/officeDocument/2006/relationships/image" Target="../media/image3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effulgent-stardust-d9e63e.netlify.app/" TargetMode="External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45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3"/>
          <p:cNvSpPr/>
          <p:nvPr/>
        </p:nvSpPr>
        <p:spPr>
          <a:xfrm>
            <a:off x="609600" y="457200"/>
            <a:ext cx="2381250" cy="323850"/>
          </a:xfrm>
          <a:prstGeom prst="roundRect">
            <a:avLst>
              <a:gd name="adj" fmla="val 50000"/>
            </a:avLst>
          </a:prstGeom>
          <a:solidFill>
            <a:srgbClr val="295B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609600" y="3964185"/>
            <a:ext cx="666750" cy="38100"/>
          </a:xfrm>
          <a:prstGeom prst="roundRect">
            <a:avLst>
              <a:gd name="adj" fmla="val 50000"/>
            </a:avLst>
          </a:prstGeom>
          <a:solidFill>
            <a:srgbClr val="388E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1050" y="533400"/>
            <a:ext cx="171450" cy="17145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9886950" y="533400"/>
            <a:ext cx="2119312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A3B18A"/>
                </a:solidFill>
                <a:latin typeface="Plus Jakarta Sans"/>
              </a:rPr>
              <a:t>Academic Year 2025–2026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66800" y="533400"/>
            <a:ext cx="219075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D8EBD6"/>
                </a:solidFill>
                <a:latin typeface="Plus Jakarta Sans"/>
              </a:rPr>
              <a:t>SMART VILLAGE PORTAL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9600" y="1893689"/>
            <a:ext cx="6700837" cy="9200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3622"/>
              </a:lnSpc>
            </a:pPr>
            <a:r>
              <a:rPr sz="3150" b="1" i="0" u="none">
                <a:solidFill>
                  <a:srgbClr val="FFFFFF"/>
                </a:solidFill>
                <a:latin typeface="Outfit"/>
              </a:rPr>
              <a:t>Smart Village - Mana Grama Abhivruddhi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9600" y="2928044"/>
            <a:ext cx="7858125" cy="2667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100"/>
              </a:lnSpc>
            </a:pPr>
            <a:r>
              <a:rPr sz="1500" b="1" i="0" u="none">
                <a:solidFill>
                  <a:srgbClr val="D8EBD6"/>
                </a:solidFill>
                <a:latin typeface="Plus Jakarta Sans"/>
              </a:rPr>
              <a:t>Building Stronger Rural Communities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09600" y="3366194"/>
            <a:ext cx="6381750" cy="42654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79"/>
              </a:lnSpc>
            </a:pPr>
            <a:r>
              <a:rPr sz="1200" b="0" i="0" u="none">
                <a:solidFill>
                  <a:srgbClr val="A3B18A"/>
                </a:solidFill>
                <a:latin typeface="Plus Jakarta Sans"/>
              </a:rPr>
              <a:t>Empowering villages through Education, Cleanliness, and Infrastructure for sustainable growth.</a:t>
            </a:r>
          </a:p>
        </p:txBody>
      </p:sp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id="{9AD44492-48F7-6E22-AA71-754D1D701DD9}"/>
              </a:ext>
            </a:extLst>
          </p:cNvPr>
          <p:cNvSpPr/>
          <p:nvPr/>
        </p:nvSpPr>
        <p:spPr>
          <a:xfrm>
            <a:off x="1527536" y="3964185"/>
            <a:ext cx="2639112" cy="2709049"/>
          </a:xfrm>
          <a:prstGeom prst="roundRect">
            <a:avLst/>
          </a:prstGeom>
          <a:noFill/>
          <a:ln>
            <a:solidFill>
              <a:schemeClr val="accent3">
                <a:lumMod val="5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D67C2875-F30F-4E56-6528-C539029D73CB}"/>
              </a:ext>
            </a:extLst>
          </p:cNvPr>
          <p:cNvSpPr/>
          <p:nvPr/>
        </p:nvSpPr>
        <p:spPr>
          <a:xfrm>
            <a:off x="2181862" y="4262688"/>
            <a:ext cx="1485998" cy="282804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00B050"/>
                </a:solidFill>
              </a:rPr>
              <a:t>Ram Gopal </a:t>
            </a:r>
            <a:endParaRPr lang="en-IN" dirty="0">
              <a:solidFill>
                <a:srgbClr val="00B050"/>
              </a:solidFill>
            </a:endParaRP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2A3DE3F7-FB24-6239-6E88-022E0216238B}"/>
              </a:ext>
            </a:extLst>
          </p:cNvPr>
          <p:cNvSpPr/>
          <p:nvPr/>
        </p:nvSpPr>
        <p:spPr>
          <a:xfrm>
            <a:off x="2162175" y="4688943"/>
            <a:ext cx="1485998" cy="282804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00B050"/>
                </a:solidFill>
              </a:rPr>
              <a:t>Syam</a:t>
            </a:r>
            <a:endParaRPr lang="en-IN" dirty="0">
              <a:solidFill>
                <a:srgbClr val="00B050"/>
              </a:solidFill>
            </a:endParaRP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CDEACEB9-1399-C85D-8CFC-149863F700F5}"/>
              </a:ext>
            </a:extLst>
          </p:cNvPr>
          <p:cNvSpPr/>
          <p:nvPr/>
        </p:nvSpPr>
        <p:spPr>
          <a:xfrm>
            <a:off x="2181862" y="5133471"/>
            <a:ext cx="1485998" cy="282804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00B050"/>
                </a:solidFill>
              </a:rPr>
              <a:t>Lakshimi</a:t>
            </a:r>
            <a:endParaRPr lang="en-IN" dirty="0">
              <a:solidFill>
                <a:srgbClr val="00B050"/>
              </a:solidFill>
            </a:endParaRP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D6EFE915-72C4-D486-701D-1D83CF77B5D3}"/>
              </a:ext>
            </a:extLst>
          </p:cNvPr>
          <p:cNvSpPr/>
          <p:nvPr/>
        </p:nvSpPr>
        <p:spPr>
          <a:xfrm>
            <a:off x="2171602" y="5578000"/>
            <a:ext cx="1485998" cy="282804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00B050"/>
                </a:solidFill>
              </a:rPr>
              <a:t>Sarojini</a:t>
            </a:r>
            <a:endParaRPr lang="en-IN" dirty="0">
              <a:solidFill>
                <a:srgbClr val="00B050"/>
              </a:solidFill>
            </a:endParaRP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D25EF371-5EB1-F8CA-B9D2-04668569BE5B}"/>
              </a:ext>
            </a:extLst>
          </p:cNvPr>
          <p:cNvSpPr/>
          <p:nvPr/>
        </p:nvSpPr>
        <p:spPr>
          <a:xfrm>
            <a:off x="2175483" y="6087931"/>
            <a:ext cx="1485998" cy="282804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00B050"/>
                </a:solidFill>
              </a:rPr>
              <a:t>Rama</a:t>
            </a:r>
            <a:endParaRPr lang="en-IN" dirty="0">
              <a:solidFill>
                <a:srgbClr val="00B050"/>
              </a:solidFill>
            </a:endParaRPr>
          </a:p>
        </p:txBody>
      </p:sp>
      <p:pic>
        <p:nvPicPr>
          <p:cNvPr id="47" name="Picture 46">
            <a:extLst>
              <a:ext uri="{FF2B5EF4-FFF2-40B4-BE49-F238E27FC236}">
                <a16:creationId xmlns:a16="http://schemas.microsoft.com/office/drawing/2014/main" id="{304E9603-C045-77A5-ED46-6F66CAB00AC5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85000"/>
          </a:blip>
          <a:stretch>
            <a:fillRect/>
          </a:stretch>
        </p:blipFill>
        <p:spPr>
          <a:xfrm>
            <a:off x="6912251" y="1740937"/>
            <a:ext cx="4419600" cy="2600325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8EBD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2376487"/>
            <a:ext cx="5409307" cy="3048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C3E2C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323707" y="2185987"/>
            <a:ext cx="2553146" cy="1638300"/>
          </a:xfrm>
          <a:prstGeom prst="roundRect">
            <a:avLst>
              <a:gd name="adj" fmla="val 8139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9029253" y="2185987"/>
            <a:ext cx="2553146" cy="1638300"/>
          </a:xfrm>
          <a:prstGeom prst="roundRect">
            <a:avLst>
              <a:gd name="adj" fmla="val 8139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6323707" y="3976687"/>
            <a:ext cx="2553146" cy="1638300"/>
          </a:xfrm>
          <a:prstGeom prst="roundRect">
            <a:avLst>
              <a:gd name="adj" fmla="val 8139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9029253" y="3976687"/>
            <a:ext cx="2553146" cy="1638300"/>
          </a:xfrm>
          <a:prstGeom prst="roundRect">
            <a:avLst>
              <a:gd name="adj" fmla="val 8139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323707" y="2185987"/>
            <a:ext cx="38100" cy="1638300"/>
          </a:xfrm>
          <a:prstGeom prst="rect">
            <a:avLst/>
          </a:prstGeom>
          <a:solidFill>
            <a:srgbClr val="E11D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9029253" y="2185987"/>
            <a:ext cx="38100" cy="1638300"/>
          </a:xfrm>
          <a:prstGeom prst="rect">
            <a:avLst/>
          </a:prstGeom>
          <a:solidFill>
            <a:srgbClr val="E11D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323707" y="3976687"/>
            <a:ext cx="38100" cy="1638300"/>
          </a:xfrm>
          <a:prstGeom prst="rect">
            <a:avLst/>
          </a:prstGeom>
          <a:solidFill>
            <a:srgbClr val="E11D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9029253" y="3976687"/>
            <a:ext cx="38100" cy="1638300"/>
          </a:xfrm>
          <a:prstGeom prst="rect">
            <a:avLst/>
          </a:prstGeom>
          <a:solidFill>
            <a:srgbClr val="E11D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3925" y="2690812"/>
            <a:ext cx="419100" cy="41910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71357" y="2395537"/>
            <a:ext cx="2095946" cy="190500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76903" y="2395537"/>
            <a:ext cx="2095946" cy="190500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71357" y="4186237"/>
            <a:ext cx="2095946" cy="190500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276903" y="4186237"/>
            <a:ext cx="2095946" cy="190500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38225" y="2805112"/>
            <a:ext cx="190500" cy="190500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23925" y="4357687"/>
            <a:ext cx="171450" cy="180975"/>
          </a:xfrm>
          <a:prstGeom prst="rect">
            <a:avLst/>
          </a:prstGeom>
        </p:spPr>
      </p:pic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23925" y="4800600"/>
            <a:ext cx="171450" cy="180975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11077575" y="923925"/>
            <a:ext cx="790575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555555"/>
                </a:solidFill>
                <a:latin typeface="Plus Jakarta Sans"/>
              </a:rPr>
              <a:t>Slide 02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09600" y="457200"/>
            <a:ext cx="6488906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0A5C28"/>
                </a:solidFill>
                <a:latin typeface="Plus Jakarta Sans"/>
              </a:rPr>
              <a:t>CONTEXT &amp; CHALLENGES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09600" y="685800"/>
            <a:ext cx="6813351" cy="4095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550" b="1" i="0" u="none">
                <a:solidFill>
                  <a:srgbClr val="0A5C28"/>
                </a:solidFill>
                <a:latin typeface="Outfit"/>
              </a:rPr>
              <a:t>Introduction &amp; Problem Statement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23925" y="3300412"/>
            <a:ext cx="4875907" cy="7715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>
                <a:solidFill>
                  <a:srgbClr val="334155"/>
                </a:solidFill>
                <a:latin typeface="Plus Jakarta Sans"/>
              </a:rPr>
              <a:t>Villages require streamlined access to education, sanitation, and public infrastructure. Current systems lack a centralized digital hub for citizens and governance.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457325" y="2781300"/>
            <a:ext cx="3125390" cy="2381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A5C28"/>
                </a:solidFill>
                <a:latin typeface="Plus Jakarta Sans"/>
              </a:rPr>
              <a:t>Rural Development Needs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90625" y="4338637"/>
            <a:ext cx="5709121" cy="219075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350" b="1" i="0" u="none">
                <a:solidFill>
                  <a:srgbClr val="334155"/>
                </a:solidFill>
                <a:latin typeface="Plus Jakarta Sans"/>
              </a:rPr>
              <a:t>Centralized Platform:</a:t>
            </a:r>
            <a:r>
              <a:rPr sz="1350" b="0" i="0" u="none">
                <a:solidFill>
                  <a:srgbClr val="334155"/>
                </a:solidFill>
                <a:latin typeface="Plus Jakarta Sans"/>
              </a:rPr>
              <a:t> Single access point for services.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90625" y="4672012"/>
            <a:ext cx="4609207" cy="43815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50" b="1" i="0" u="none">
                <a:solidFill>
                  <a:srgbClr val="334155"/>
                </a:solidFill>
                <a:latin typeface="Plus Jakarta Sans"/>
              </a:rPr>
              <a:t>Community Empowerment:</a:t>
            </a:r>
            <a:r>
              <a:rPr sz="1350" b="0" i="0" u="none">
                <a:solidFill>
                  <a:srgbClr val="334155"/>
                </a:solidFill>
                <a:latin typeface="Plus Jakarta Sans"/>
              </a:rPr>
              <a:t> Fast, transparent participation.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71357" y="2681287"/>
            <a:ext cx="2750929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Plus Jakarta Sans"/>
              </a:rPr>
              <a:t>Education Gap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71357" y="2957512"/>
            <a:ext cx="2191196" cy="4381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64748B"/>
                </a:solidFill>
                <a:latin typeface="Plus Jakarta Sans"/>
              </a:rPr>
              <a:t>Limited access to digital learning &amp; scholarships.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276903" y="2681287"/>
            <a:ext cx="2750929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Plus Jakarta Sans"/>
              </a:rPr>
              <a:t>Swachh Tracking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276903" y="2957512"/>
            <a:ext cx="2191196" cy="6572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64748B"/>
                </a:solidFill>
                <a:latin typeface="Plus Jakarta Sans"/>
              </a:rPr>
              <a:t>Manual cleanliness and waste management drives.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71357" y="4471987"/>
            <a:ext cx="2750929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Plus Jakarta Sans"/>
              </a:rPr>
              <a:t>Roads &amp; Water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71357" y="4748212"/>
            <a:ext cx="2191196" cy="6572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64748B"/>
                </a:solidFill>
                <a:latin typeface="Plus Jakarta Sans"/>
              </a:rPr>
              <a:t>Delayed grievance resolution for basic utilities.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276903" y="4471987"/>
            <a:ext cx="2750929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Plus Jakarta Sans"/>
              </a:rPr>
              <a:t>Scattered Data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276903" y="4748212"/>
            <a:ext cx="2191196" cy="4381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64748B"/>
                </a:solidFill>
                <a:latin typeface="Plus Jakarta Sans"/>
              </a:rPr>
              <a:t>No single dashboard for village stats and updates.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3710582"/>
            <a:ext cx="10972800" cy="1676400"/>
          </a:xfrm>
          <a:prstGeom prst="roundRect">
            <a:avLst>
              <a:gd name="adj" fmla="val 7954"/>
            </a:avLst>
          </a:prstGeom>
          <a:solidFill>
            <a:srgbClr val="D8EBD6"/>
          </a:solidFill>
          <a:ln w="9525">
            <a:solidFill>
              <a:srgbClr val="C3E2C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09600" y="1323975"/>
            <a:ext cx="3505200" cy="2158007"/>
          </a:xfrm>
          <a:prstGeom prst="roundRect">
            <a:avLst>
              <a:gd name="adj" fmla="val 6179"/>
            </a:avLst>
          </a:prstGeom>
          <a:solidFill>
            <a:srgbClr val="FFFFFF"/>
          </a:solidFill>
          <a:ln w="9525">
            <a:solidFill>
              <a:srgbClr val="D8EB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4343400" y="1323975"/>
            <a:ext cx="3505200" cy="2158007"/>
          </a:xfrm>
          <a:prstGeom prst="roundRect">
            <a:avLst>
              <a:gd name="adj" fmla="val 6179"/>
            </a:avLst>
          </a:prstGeom>
          <a:solidFill>
            <a:srgbClr val="FFFFFF"/>
          </a:solidFill>
          <a:ln w="9525">
            <a:solidFill>
              <a:srgbClr val="D8EB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8077200" y="1323975"/>
            <a:ext cx="3505200" cy="2158007"/>
          </a:xfrm>
          <a:prstGeom prst="roundRect">
            <a:avLst>
              <a:gd name="adj" fmla="val 6179"/>
            </a:avLst>
          </a:prstGeom>
          <a:solidFill>
            <a:srgbClr val="FFFFFF"/>
          </a:solidFill>
          <a:ln w="9525">
            <a:solidFill>
              <a:srgbClr val="D8EB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2095500" y="1562100"/>
            <a:ext cx="533400" cy="533400"/>
          </a:xfrm>
          <a:prstGeom prst="roundRect">
            <a:avLst>
              <a:gd name="adj" fmla="val 50000"/>
            </a:avLst>
          </a:prstGeom>
          <a:noFill/>
          <a:ln w="19050">
            <a:solidFill>
              <a:srgbClr val="388E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5829300" y="1562100"/>
            <a:ext cx="533400" cy="533400"/>
          </a:xfrm>
          <a:prstGeom prst="roundRect">
            <a:avLst>
              <a:gd name="adj" fmla="val 50000"/>
            </a:avLst>
          </a:prstGeom>
          <a:noFill/>
          <a:ln w="19050">
            <a:solidFill>
              <a:srgbClr val="388E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9563100" y="1562100"/>
            <a:ext cx="533400" cy="533400"/>
          </a:xfrm>
          <a:prstGeom prst="roundRect">
            <a:avLst>
              <a:gd name="adj" fmla="val 50000"/>
            </a:avLst>
          </a:prstGeom>
          <a:noFill/>
          <a:ln w="19050">
            <a:solidFill>
              <a:srgbClr val="388E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809625" y="4343995"/>
            <a:ext cx="1813619" cy="733425"/>
          </a:xfrm>
          <a:prstGeom prst="roundRect">
            <a:avLst>
              <a:gd name="adj" fmla="val 12987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3004244" y="4343995"/>
            <a:ext cx="1813619" cy="733425"/>
          </a:xfrm>
          <a:prstGeom prst="roundRect">
            <a:avLst>
              <a:gd name="adj" fmla="val 12987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5198864" y="4353520"/>
            <a:ext cx="1794569" cy="714375"/>
          </a:xfrm>
          <a:prstGeom prst="roundRect">
            <a:avLst>
              <a:gd name="adj" fmla="val 13333"/>
            </a:avLst>
          </a:prstGeom>
          <a:solidFill>
            <a:srgbClr val="0A5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7374433" y="4343995"/>
            <a:ext cx="1813619" cy="733425"/>
          </a:xfrm>
          <a:prstGeom prst="roundRect">
            <a:avLst>
              <a:gd name="adj" fmla="val 12987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9569053" y="4234457"/>
            <a:ext cx="1813619" cy="9525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37544" y="4624982"/>
            <a:ext cx="152400" cy="171450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2164" y="4624982"/>
            <a:ext cx="152400" cy="171450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07733" y="4624982"/>
            <a:ext cx="152400" cy="171450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02353" y="4624982"/>
            <a:ext cx="152400" cy="171450"/>
          </a:xfrm>
          <a:prstGeom prst="rect">
            <a:avLst/>
          </a:prstGeom>
        </p:spPr>
      </p:pic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19325" y="1714500"/>
            <a:ext cx="285750" cy="228600"/>
          </a:xfrm>
          <a:prstGeom prst="rect">
            <a:avLst/>
          </a:prstGeom>
        </p:spPr>
      </p:pic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67412" y="1714500"/>
            <a:ext cx="257175" cy="228600"/>
          </a:xfrm>
          <a:prstGeom prst="rect">
            <a:avLst/>
          </a:prstGeom>
        </p:spPr>
      </p:pic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744075" y="1714500"/>
            <a:ext cx="171450" cy="228600"/>
          </a:xfrm>
          <a:prstGeom prst="rect">
            <a:avLst/>
          </a:prstGeom>
        </p:spPr>
      </p:pic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14400" y="4486870"/>
            <a:ext cx="1604069" cy="190500"/>
          </a:xfrm>
          <a:prstGeom prst="rect">
            <a:avLst/>
          </a:prstGeom>
        </p:spPr>
      </p:pic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109019" y="4486870"/>
            <a:ext cx="1604069" cy="190500"/>
          </a:xfrm>
          <a:prstGeom prst="rect">
            <a:avLst/>
          </a:prstGeom>
        </p:spPr>
      </p:pic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294114" y="4486870"/>
            <a:ext cx="1604069" cy="190500"/>
          </a:xfrm>
          <a:prstGeom prst="rect">
            <a:avLst/>
          </a:prstGeom>
        </p:spPr>
      </p:pic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479208" y="4486870"/>
            <a:ext cx="1604069" cy="190500"/>
          </a:xfrm>
          <a:prstGeom prst="rect">
            <a:avLst/>
          </a:prstGeom>
        </p:spPr>
      </p:pic>
      <p:pic>
        <p:nvPicPr>
          <p:cNvPr id="25" name="Picture 24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673828" y="4377332"/>
            <a:ext cx="1604069" cy="190500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11068050" y="923925"/>
            <a:ext cx="80010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64748B"/>
                </a:solidFill>
                <a:latin typeface="Plus Jakarta Sans"/>
              </a:rPr>
              <a:t>Slide 03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-255984" y="3910607"/>
            <a:ext cx="12703968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050" b="1" i="0" u="none">
                <a:solidFill>
                  <a:srgbClr val="0A5C28"/>
                </a:solidFill>
                <a:latin typeface="Plus Jakarta Sans"/>
              </a:rPr>
              <a:t>SYSTEM DATA FLOW PIPELINE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09600" y="457200"/>
            <a:ext cx="8870156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0A5C28"/>
                </a:solidFill>
                <a:latin typeface="Plus Jakarta Sans"/>
              </a:rPr>
              <a:t>CORE PROGRAMS &amp; ARCHITECTURE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09600" y="685800"/>
            <a:ext cx="9313664" cy="4095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550" b="1" i="0" u="none">
                <a:solidFill>
                  <a:srgbClr val="0A5C28"/>
                </a:solidFill>
                <a:latin typeface="Outfit"/>
              </a:rPr>
              <a:t>Proposed Solution — Mana Grama Abhivruddhi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717119" y="2209800"/>
            <a:ext cx="1290161" cy="2381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500" b="1" i="0" u="none">
                <a:solidFill>
                  <a:srgbClr val="0A5C28"/>
                </a:solidFill>
                <a:latin typeface="Plus Jakarta Sans"/>
              </a:rPr>
              <a:t>Education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69106" y="2524125"/>
            <a:ext cx="3786187" cy="7197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889"/>
              </a:lnSpc>
            </a:pPr>
            <a:r>
              <a:rPr sz="1350" b="0" i="0" u="none">
                <a:solidFill>
                  <a:srgbClr val="555555"/>
                </a:solidFill>
                <a:latin typeface="Plus Jakarta Sans"/>
              </a:rPr>
              <a:t>Quality learning, digital classrooms, scholarships, and youth empowerment.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164633" y="2209800"/>
            <a:ext cx="1862732" cy="2381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500" b="1" i="0" u="none">
                <a:solidFill>
                  <a:srgbClr val="0A5C28"/>
                </a:solidFill>
                <a:latin typeface="Plus Jakarta Sans"/>
              </a:rPr>
              <a:t>Swachh Village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202906" y="2524125"/>
            <a:ext cx="3786187" cy="7197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889"/>
              </a:lnSpc>
            </a:pPr>
            <a:r>
              <a:rPr sz="1350" b="0" i="0" u="none">
                <a:solidFill>
                  <a:srgbClr val="555555"/>
                </a:solidFill>
                <a:latin typeface="Plus Jakarta Sans"/>
              </a:rPr>
              <a:t>Cleanliness drives, waste management, sanitation, and hygiene programs.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942189" y="2209800"/>
            <a:ext cx="1775221" cy="2381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500" b="1" i="0" u="none">
                <a:solidFill>
                  <a:srgbClr val="0A5C28"/>
                </a:solidFill>
                <a:latin typeface="Plus Jakarta Sans"/>
              </a:rPr>
              <a:t>Roads &amp; Water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936706" y="2524125"/>
            <a:ext cx="3786187" cy="4798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889"/>
              </a:lnSpc>
            </a:pPr>
            <a:r>
              <a:rPr sz="1350" b="0" i="0" u="none">
                <a:solidFill>
                  <a:srgbClr val="555555"/>
                </a:solidFill>
                <a:latin typeface="Plus Jakarta Sans"/>
              </a:rPr>
              <a:t>Improved rural roads, safe drinking water, and conservation solutions.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63764" y="4715470"/>
            <a:ext cx="2105341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350" b="1" i="0" u="none">
                <a:solidFill>
                  <a:srgbClr val="1E293B"/>
                </a:solidFill>
                <a:latin typeface="Plus Jakarta Sans"/>
              </a:rPr>
              <a:t>Citizens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858383" y="4715470"/>
            <a:ext cx="2105341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350" b="1" i="0" u="none">
                <a:solidFill>
                  <a:srgbClr val="1E293B"/>
                </a:solidFill>
                <a:latin typeface="Plus Jakarta Sans"/>
              </a:rPr>
              <a:t>Web Portal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043478" y="4715470"/>
            <a:ext cx="2105341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350" b="1" i="0" u="none">
                <a:solidFill>
                  <a:srgbClr val="FFFFFF"/>
                </a:solidFill>
                <a:latin typeface="Plus Jakarta Sans"/>
              </a:rPr>
              <a:t>Database Engine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228572" y="4715470"/>
            <a:ext cx="2105341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350" b="1" i="0" u="none">
                <a:solidFill>
                  <a:srgbClr val="1E293B"/>
                </a:solidFill>
                <a:latin typeface="Plus Jakarta Sans"/>
              </a:rPr>
              <a:t>Admin Portal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423192" y="4605932"/>
            <a:ext cx="2105341" cy="4381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50" b="1" i="0" u="none">
                <a:solidFill>
                  <a:srgbClr val="1E293B"/>
                </a:solidFill>
                <a:latin typeface="Plus Jakarta Sans"/>
              </a:rPr>
              <a:t>Smart Village Admin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8EBD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2181225"/>
            <a:ext cx="5104507" cy="3438525"/>
          </a:xfrm>
          <a:prstGeom prst="roundRect">
            <a:avLst>
              <a:gd name="adj" fmla="val 4432"/>
            </a:avLst>
          </a:prstGeom>
          <a:solidFill>
            <a:srgbClr val="FFFFFF"/>
          </a:solidFill>
          <a:ln w="9525">
            <a:solidFill>
              <a:srgbClr val="C3E2C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885825" y="2924175"/>
            <a:ext cx="4552057" cy="704850"/>
          </a:xfrm>
          <a:prstGeom prst="roundRect">
            <a:avLst>
              <a:gd name="adj" fmla="val 13513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885825" y="3781425"/>
            <a:ext cx="4552057" cy="704850"/>
          </a:xfrm>
          <a:prstGeom prst="roundRect">
            <a:avLst>
              <a:gd name="adj" fmla="val 13513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885825" y="4638675"/>
            <a:ext cx="4552057" cy="704850"/>
          </a:xfrm>
          <a:prstGeom prst="roundRect">
            <a:avLst>
              <a:gd name="adj" fmla="val 13513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6018907" y="2547937"/>
            <a:ext cx="2705546" cy="1276350"/>
          </a:xfrm>
          <a:prstGeom prst="roundRect">
            <a:avLst>
              <a:gd name="adj" fmla="val 8955"/>
            </a:avLst>
          </a:prstGeom>
          <a:solidFill>
            <a:srgbClr val="FFFFFF"/>
          </a:solidFill>
          <a:ln w="9525">
            <a:solidFill>
              <a:srgbClr val="C3E2C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8876853" y="2547937"/>
            <a:ext cx="2705546" cy="1276350"/>
          </a:xfrm>
          <a:prstGeom prst="roundRect">
            <a:avLst>
              <a:gd name="adj" fmla="val 8955"/>
            </a:avLst>
          </a:prstGeom>
          <a:solidFill>
            <a:srgbClr val="FFFFFF"/>
          </a:solidFill>
          <a:ln w="9525">
            <a:solidFill>
              <a:srgbClr val="C3E2C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6018907" y="3976687"/>
            <a:ext cx="2705546" cy="1276350"/>
          </a:xfrm>
          <a:prstGeom prst="roundRect">
            <a:avLst>
              <a:gd name="adj" fmla="val 8955"/>
            </a:avLst>
          </a:prstGeom>
          <a:solidFill>
            <a:srgbClr val="FFFFFF"/>
          </a:solidFill>
          <a:ln w="9525">
            <a:solidFill>
              <a:srgbClr val="C3E2C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8876853" y="3976687"/>
            <a:ext cx="2705546" cy="1276350"/>
          </a:xfrm>
          <a:prstGeom prst="roundRect">
            <a:avLst>
              <a:gd name="adj" fmla="val 8955"/>
            </a:avLst>
          </a:prstGeom>
          <a:solidFill>
            <a:srgbClr val="FFFFFF"/>
          </a:solidFill>
          <a:ln w="9525">
            <a:solidFill>
              <a:srgbClr val="C3E2C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7275" y="3162300"/>
            <a:ext cx="171450" cy="22860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7275" y="4019550"/>
            <a:ext cx="200025" cy="22860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7275" y="4876800"/>
            <a:ext cx="200025" cy="228600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18932" y="2767012"/>
            <a:ext cx="190500" cy="190500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076878" y="2767012"/>
            <a:ext cx="190500" cy="190500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18932" y="4195762"/>
            <a:ext cx="142875" cy="190500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076878" y="4195762"/>
            <a:ext cx="190500" cy="19050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11068050" y="923925"/>
            <a:ext cx="80010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555555"/>
                </a:solidFill>
                <a:latin typeface="Plus Jakarta Sans"/>
              </a:rPr>
              <a:t>Slide 04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9600" y="457200"/>
            <a:ext cx="5584031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0A5C28"/>
                </a:solidFill>
                <a:latin typeface="Plus Jakarta Sans"/>
              </a:rPr>
              <a:t>SYSTEM CAPABILITIES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09600" y="685800"/>
            <a:ext cx="5863232" cy="4095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550" b="1" i="0" u="none">
                <a:solidFill>
                  <a:srgbClr val="0A5C28"/>
                </a:solidFill>
                <a:latin typeface="Outfit"/>
              </a:rPr>
              <a:t>Technologies &amp; Main Features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85825" y="2457450"/>
            <a:ext cx="5974574" cy="2381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A5C28"/>
                </a:solidFill>
                <a:latin typeface="Plus Jakarta Sans"/>
              </a:rPr>
              <a:t>Technology Stack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81125" y="3057525"/>
            <a:ext cx="3887985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Plus Jakarta Sans"/>
              </a:rPr>
              <a:t>Frontend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81125" y="3276600"/>
            <a:ext cx="1979068" cy="20774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0" i="0" u="none" dirty="0">
                <a:solidFill>
                  <a:srgbClr val="64748B"/>
                </a:solidFill>
                <a:latin typeface="Plus Jakarta Sans"/>
              </a:rPr>
              <a:t>HTML5, CSS3, JS, Bootstrap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409700" y="3914775"/>
            <a:ext cx="3337917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Plus Jakarta Sans"/>
              </a:rPr>
              <a:t>Backend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409700" y="4133850"/>
            <a:ext cx="1407886" cy="20774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0" i="0" u="none" dirty="0">
                <a:solidFill>
                  <a:srgbClr val="64748B"/>
                </a:solidFill>
                <a:latin typeface="Plus Jakarta Sans"/>
              </a:rPr>
              <a:t>Node.js  Framework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409700" y="4772025"/>
            <a:ext cx="3750468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Plus Jakarta Sans"/>
              </a:rPr>
              <a:t>Database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409700" y="4991100"/>
            <a:ext cx="3571875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64748B"/>
                </a:solidFill>
                <a:latin typeface="Plus Jakarta Sans"/>
              </a:rPr>
              <a:t>MySQL / MongoDB Relational Store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42782" y="2747962"/>
            <a:ext cx="2600911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1E293B"/>
                </a:solidFill>
                <a:latin typeface="Plus Jakarta Sans"/>
              </a:rPr>
              <a:t>Admin Dashboard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42782" y="2967037"/>
            <a:ext cx="2076896" cy="6572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64748B"/>
                </a:solidFill>
                <a:latin typeface="Plus Jakarta Sans"/>
              </a:rPr>
              <a:t>CRUD control for projects, complaints &amp; users.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400728" y="2747962"/>
            <a:ext cx="2600911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1E293B"/>
                </a:solidFill>
                <a:latin typeface="Plus Jakarta Sans"/>
              </a:rPr>
              <a:t>Help &amp; FAQ Section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400728" y="2967037"/>
            <a:ext cx="2076896" cy="4381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64748B"/>
                </a:solidFill>
                <a:latin typeface="Plus Jakarta Sans"/>
              </a:rPr>
              <a:t>Interactive guidance &amp; program inquiries.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95157" y="4176712"/>
            <a:ext cx="2663418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1E293B"/>
                </a:solidFill>
                <a:latin typeface="Plus Jakarta Sans"/>
              </a:rPr>
              <a:t>Responsive UI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95157" y="4395787"/>
            <a:ext cx="2124521" cy="4381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64748B"/>
                </a:solidFill>
                <a:latin typeface="Plus Jakarta Sans"/>
              </a:rPr>
              <a:t>Tailored desktop, tablet &amp; mobile experience.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400728" y="4176712"/>
            <a:ext cx="2600911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1E293B"/>
                </a:solidFill>
                <a:latin typeface="Plus Jakarta Sans"/>
              </a:rPr>
              <a:t>Auth &amp; Session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400728" y="4395787"/>
            <a:ext cx="2076896" cy="6572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64748B"/>
                </a:solidFill>
                <a:latin typeface="Plus Jakarta Sans"/>
              </a:rPr>
              <a:t>Secure password hashing and token sessions.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45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609600" y="5838825"/>
            <a:ext cx="10972800" cy="561975"/>
          </a:xfrm>
          <a:prstGeom prst="roundRect">
            <a:avLst>
              <a:gd name="adj" fmla="val 20338"/>
            </a:avLst>
          </a:prstGeom>
          <a:solidFill>
            <a:srgbClr val="175631"/>
          </a:solidFill>
          <a:ln w="9525">
            <a:solidFill>
              <a:srgbClr val="52B7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09600" y="2486025"/>
            <a:ext cx="5133082" cy="1962150"/>
          </a:xfrm>
          <a:prstGeom prst="roundRect">
            <a:avLst>
              <a:gd name="adj" fmla="val 7766"/>
            </a:avLst>
          </a:prstGeom>
          <a:solidFill>
            <a:srgbClr val="1F5434"/>
          </a:solidFill>
          <a:ln w="9525">
            <a:solidFill>
              <a:srgbClr val="295B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6085582" y="2114550"/>
            <a:ext cx="2681733" cy="1285875"/>
          </a:xfrm>
          <a:prstGeom prst="roundRect">
            <a:avLst>
              <a:gd name="adj" fmla="val 8888"/>
            </a:avLst>
          </a:prstGeom>
          <a:solidFill>
            <a:srgbClr val="184E2D"/>
          </a:solidFill>
          <a:ln w="9525">
            <a:solidFill>
              <a:srgbClr val="2458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8900666" y="2114550"/>
            <a:ext cx="2681733" cy="1285875"/>
          </a:xfrm>
          <a:prstGeom prst="roundRect">
            <a:avLst>
              <a:gd name="adj" fmla="val 8888"/>
            </a:avLst>
          </a:prstGeom>
          <a:solidFill>
            <a:srgbClr val="184E2D"/>
          </a:solidFill>
          <a:ln w="9525">
            <a:solidFill>
              <a:srgbClr val="2458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6085582" y="3533775"/>
            <a:ext cx="2681733" cy="1285875"/>
          </a:xfrm>
          <a:prstGeom prst="roundRect">
            <a:avLst>
              <a:gd name="adj" fmla="val 8888"/>
            </a:avLst>
          </a:prstGeom>
          <a:solidFill>
            <a:srgbClr val="184E2D"/>
          </a:solidFill>
          <a:ln w="9525">
            <a:solidFill>
              <a:srgbClr val="2458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8900666" y="3533775"/>
            <a:ext cx="2681733" cy="1285875"/>
          </a:xfrm>
          <a:prstGeom prst="roundRect">
            <a:avLst>
              <a:gd name="adj" fmla="val 8888"/>
            </a:avLst>
          </a:prstGeom>
          <a:solidFill>
            <a:srgbClr val="184E2D"/>
          </a:solidFill>
          <a:ln w="9525">
            <a:solidFill>
              <a:srgbClr val="2458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6557" y="2295525"/>
            <a:ext cx="2319783" cy="19050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81641" y="2295525"/>
            <a:ext cx="2319783" cy="19050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66557" y="3714750"/>
            <a:ext cx="2319783" cy="19050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081641" y="3714750"/>
            <a:ext cx="2319783" cy="1905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1068050" y="923925"/>
            <a:ext cx="80010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A3B18A"/>
                </a:solidFill>
                <a:latin typeface="Plus Jakarta Sans"/>
              </a:rPr>
              <a:t>Slide 05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85825" y="6010275"/>
            <a:ext cx="4083843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D8EBD6"/>
                </a:solidFill>
                <a:latin typeface="Plus Jakarta Sans"/>
              </a:rPr>
              <a:t>"Building Stronger Rural Communities"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29825" y="6000750"/>
            <a:ext cx="1595437" cy="2381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FFFFFF"/>
                </a:solidFill>
                <a:latin typeface="Plus Jakarta Sans"/>
              </a:rPr>
              <a:t>THANK YOU!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9600" y="457200"/>
            <a:ext cx="4964906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52B788"/>
                </a:solidFill>
                <a:latin typeface="Plus Jakarta Sans"/>
              </a:rPr>
              <a:t>IMPACT &amp; VISION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9600" y="685800"/>
            <a:ext cx="5213151" cy="4095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550" b="1" i="0" u="none">
                <a:solidFill>
                  <a:srgbClr val="FFFFFF"/>
                </a:solidFill>
                <a:latin typeface="Outfit"/>
              </a:rPr>
              <a:t>Conclusion &amp; Future Scope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85825" y="2762250"/>
            <a:ext cx="6012079" cy="2667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52B788"/>
                </a:solidFill>
                <a:latin typeface="Plus Jakarta Sans"/>
              </a:rPr>
              <a:t>Conclusion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85825" y="3143250"/>
            <a:ext cx="4675882" cy="1028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>
                <a:solidFill>
                  <a:srgbClr val="D8EBD6"/>
                </a:solidFill>
                <a:latin typeface="Plus Jakarta Sans"/>
              </a:rPr>
              <a:t>Mana Grama Abhivruddhi serves as a unified digital platform for rural governance, elevating access to Education, Swachh drives, and Roads &amp; Water management.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66557" y="2562225"/>
            <a:ext cx="3044716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FFFFFF"/>
                </a:solidFill>
                <a:latin typeface="Plus Jakarta Sans"/>
              </a:rPr>
              <a:t>Mobile App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66557" y="2781300"/>
            <a:ext cx="2415033" cy="4381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A3B18A"/>
                </a:solidFill>
                <a:latin typeface="Plus Jakarta Sans"/>
              </a:rPr>
              <a:t>Native Android &amp; iOS releases.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81641" y="2562225"/>
            <a:ext cx="3044716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FFFFFF"/>
                </a:solidFill>
                <a:latin typeface="Plus Jakarta Sans"/>
              </a:rPr>
              <a:t>GIS Mapping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081641" y="2781300"/>
            <a:ext cx="2415033" cy="4381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A3B18A"/>
                </a:solidFill>
                <a:latin typeface="Plus Jakarta Sans"/>
              </a:rPr>
              <a:t>Interactive village resource maps.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66557" y="3981450"/>
            <a:ext cx="3044716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FFFFFF"/>
                </a:solidFill>
                <a:latin typeface="Plus Jakarta Sans"/>
              </a:rPr>
              <a:t>AI Service Bot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66557" y="4200525"/>
            <a:ext cx="2415033" cy="4381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A3B18A"/>
                </a:solidFill>
                <a:latin typeface="Plus Jakarta Sans"/>
              </a:rPr>
              <a:t>Multilingual support assistant.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081641" y="3981450"/>
            <a:ext cx="3044716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FFFFFF"/>
                </a:solidFill>
                <a:latin typeface="Plus Jakarta Sans"/>
              </a:rPr>
              <a:t>IoT Agriculture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081641" y="4200525"/>
            <a:ext cx="2415033" cy="4381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A3B18A"/>
                </a:solidFill>
                <a:latin typeface="Plus Jakarta Sans"/>
              </a:rPr>
              <a:t>Telemetry &amp; irrigation telemetry.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1000125"/>
            <a:ext cx="857250" cy="47625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593129" y="1000125"/>
            <a:ext cx="7154945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en-US" sz="1200" b="1" dirty="0">
                <a:solidFill>
                  <a:srgbClr val="1E293B"/>
                </a:solidFill>
                <a:latin typeface="Plus Jakarta Sans"/>
              </a:rPr>
              <a:t>Website link</a:t>
            </a:r>
            <a:r>
              <a:rPr sz="1200" b="0" i="0" u="none" dirty="0">
                <a:solidFill>
                  <a:srgbClr val="1E293B"/>
                </a:solidFill>
                <a:latin typeface="Plus Jakarta Sans"/>
              </a:rPr>
              <a:t>: </a:t>
            </a:r>
            <a:r>
              <a:rPr lang="en-IN" sz="1400" dirty="0">
                <a:hlinkClick r:id="rId3"/>
              </a:rPr>
              <a:t>https://effulgent-stardust-d9e63e.netlify.app</a:t>
            </a:r>
            <a:endParaRPr sz="1400" b="0" i="0" u="none" dirty="0">
              <a:solidFill>
                <a:srgbClr val="4F46E5"/>
              </a:solidFill>
              <a:latin typeface="Plus Jakarta Sans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E948370-52E2-EDD3-3CE6-8E85261634FA}"/>
              </a:ext>
            </a:extLst>
          </p:cNvPr>
          <p:cNvSpPr txBox="1"/>
          <p:nvPr/>
        </p:nvSpPr>
        <p:spPr>
          <a:xfrm>
            <a:off x="1593130" y="433633"/>
            <a:ext cx="397095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highlight>
                  <a:srgbClr val="00FFFF"/>
                </a:highlight>
                <a:latin typeface="Algerian" panose="04020705040A02060702" pitchFamily="82" charset="0"/>
              </a:rPr>
              <a:t>Mana Grama </a:t>
            </a:r>
            <a:r>
              <a:rPr lang="en-US" b="1" dirty="0" err="1">
                <a:highlight>
                  <a:srgbClr val="00FFFF"/>
                </a:highlight>
                <a:latin typeface="Algerian" panose="04020705040A02060702" pitchFamily="82" charset="0"/>
              </a:rPr>
              <a:t>Abhirudhi</a:t>
            </a:r>
            <a:r>
              <a:rPr lang="en-US" b="1" dirty="0">
                <a:highlight>
                  <a:srgbClr val="00FFFF"/>
                </a:highlight>
                <a:latin typeface="Algerian" panose="04020705040A02060702" pitchFamily="82" charset="0"/>
              </a:rPr>
              <a:t> Website</a:t>
            </a:r>
            <a:endParaRPr lang="en-IN" b="1" dirty="0">
              <a:highlight>
                <a:srgbClr val="00FFFF"/>
              </a:highlight>
              <a:latin typeface="Algerian" panose="04020705040A02060702" pitchFamily="82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E9310BB-6F50-CE79-F274-ACEB85BE4F2C}"/>
              </a:ext>
            </a:extLst>
          </p:cNvPr>
          <p:cNvSpPr txBox="1"/>
          <p:nvPr/>
        </p:nvSpPr>
        <p:spPr>
          <a:xfrm>
            <a:off x="3054096" y="3630168"/>
            <a:ext cx="2632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</a:t>
            </a:r>
            <a:endParaRPr lang="en-IN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94934ED-E4D2-9DC6-51CC-C2A3022757BA}"/>
              </a:ext>
            </a:extLst>
          </p:cNvPr>
          <p:cNvSpPr txBox="1"/>
          <p:nvPr/>
        </p:nvSpPr>
        <p:spPr>
          <a:xfrm>
            <a:off x="2344607" y="2552962"/>
            <a:ext cx="183575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latin typeface="Algerian" panose="04020705040A02060702" pitchFamily="82" charset="0"/>
              </a:rPr>
              <a:t>Thank you</a:t>
            </a:r>
            <a:endParaRPr lang="en-IN" sz="2400" dirty="0">
              <a:solidFill>
                <a:schemeClr val="bg1"/>
              </a:solidFill>
              <a:latin typeface="Algerian" panose="04020705040A02060702" pitchFamily="82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1728210-F7B8-372F-DF94-1D3A2A6FFF91}"/>
              </a:ext>
            </a:extLst>
          </p:cNvPr>
          <p:cNvSpPr txBox="1"/>
          <p:nvPr/>
        </p:nvSpPr>
        <p:spPr>
          <a:xfrm>
            <a:off x="2050455" y="3291614"/>
            <a:ext cx="242406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solidFill>
                  <a:schemeClr val="bg1"/>
                </a:solidFill>
                <a:latin typeface="Algerian" panose="04020705040A02060702" pitchFamily="82" charset="0"/>
              </a:rPr>
              <a:t>Any queries</a:t>
            </a:r>
            <a:endParaRPr lang="en-IN" sz="2800" dirty="0">
              <a:solidFill>
                <a:schemeClr val="bg1"/>
              </a:solidFill>
              <a:latin typeface="Algerian" panose="04020705040A02060702" pitchFamily="82" charset="0"/>
            </a:endParaRP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TM02836342[[fn=Ion]]</Template>
  <TotalTime>172</TotalTime>
  <Words>361</Words>
  <Application>Microsoft Office PowerPoint</Application>
  <PresentationFormat>Widescreen</PresentationFormat>
  <Paragraphs>78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2" baseType="lpstr">
      <vt:lpstr>Plus Jakarta Sans</vt:lpstr>
      <vt:lpstr>Outfit</vt:lpstr>
      <vt:lpstr>Algerian</vt:lpstr>
      <vt:lpstr>Century Gothic</vt:lpstr>
      <vt:lpstr>Wingdings 3</vt:lpstr>
      <vt:lpstr>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Aarohan</cp:lastModifiedBy>
  <cp:revision>7</cp:revision>
  <dcterms:created xsi:type="dcterms:W3CDTF">2013-01-27T09:14:16Z</dcterms:created>
  <dcterms:modified xsi:type="dcterms:W3CDTF">2026-09-19T10:01:48Z</dcterms:modified>
  <cp:category/>
</cp:coreProperties>
</file>