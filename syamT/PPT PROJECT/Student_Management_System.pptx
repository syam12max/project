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3999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present the Student Management System, a web-based platform that replaces manual, paper-driven college record keeping with a single secure database. Introduce the five team members and their roles.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context: student data is the backbone of an institution but is usually fragmented. SMS centralises it into one web application with three role-based logins and real-time updates.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pain points of the manual system: paperwork, duplicated data, lack of real-time access, and unreliable manual reporting. These directly motivate the proposed solution.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solution as four building blocks: a single normalised database, role-based authentication, automated modules, and live dashboards. Emphasise that data is entered once and reused everywhere.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three-tier architecture and why each technology was chosen: React and Bootstrap for a responsive UI, Django REST for rapid secure backend development, MySQL for reliable relational storage.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six modules. Highlight that every module writes to the same database, which is what makes the analytics dashboard possible.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analysis. The bar chart compares time taken per task before and after the system; the doughnut shows which modules are expected to carry the most daily usage. Finish on the impact figures.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7791362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65796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37405070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A43F5B-065E-43CE-B3FD-98C48A6F94D7}" type="datetime1">
              <a:rPr lang="en-US" smtClean="0"/>
              <a:pPr/>
              <a:t>9/16/2026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585036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A43F5B-065E-43CE-B3FD-98C48A6F94D7}" type="datetime1">
              <a:rPr lang="en-US" smtClean="0"/>
              <a:pPr/>
              <a:t>9/16/2026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035186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3"/>
          <p:cNvSpPr>
            <a:spLocks noGrp="1"/>
          </p:cNvSpPr>
          <p:nvPr>
            <p:ph type="ftr" sz="quarter" idx="11"/>
          </p:nvPr>
        </p:nvSpPr>
        <p:spPr/>
        <p:txBody>
          <a:bodyPr/>
          <a:lstStyle/>
          <a:p>
            <a:r>
              <a:rPr lang="en-US"/>
              <a:t>Sample Footer Text</a:t>
            </a:r>
          </a:p>
        </p:txBody>
      </p:sp>
      <p:sp>
        <p:nvSpPr>
          <p:cNvPr id="6" name="Slide Number Placeholder 4"/>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358033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361071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5"/>
          <p:cNvSpPr>
            <a:spLocks noGrp="1"/>
          </p:cNvSpPr>
          <p:nvPr>
            <p:ph type="ftr" sz="quarter" idx="11"/>
          </p:nvPr>
        </p:nvSpPr>
        <p:spPr/>
        <p:txBody>
          <a:bodyPr/>
          <a:lstStyle/>
          <a:p>
            <a:r>
              <a:rPr lang="en-US"/>
              <a:t>Sample Footer Text</a:t>
            </a:r>
          </a:p>
        </p:txBody>
      </p:sp>
      <p:sp>
        <p:nvSpPr>
          <p:cNvPr id="6"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8389290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43F5B-065E-43CE-B3FD-98C48A6F94D7}" type="datetime1">
              <a:rPr lang="en-US" smtClean="0"/>
              <a:pPr/>
              <a:t>9/16/2026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549369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43F5B-065E-43CE-B3FD-98C48A6F94D7}" type="datetime1">
              <a:rPr lang="en-US" smtClean="0"/>
              <a:pPr/>
              <a:t>9/16/2026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046951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014205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031890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6604286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6400874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5655156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8917298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43F5B-065E-43CE-B3FD-98C48A6F94D7}" type="datetime1">
              <a:rPr lang="en-US" smtClean="0"/>
              <a:pPr/>
              <a:t>9/16/2026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3352992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81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FA43F5B-065E-43CE-B3FD-98C48A6F94D7}" type="datetime1">
              <a:rPr lang="en-US" smtClean="0"/>
              <a:pPr/>
              <a:t>9/16/2026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3451783064"/>
      </p:ext>
    </p:extLst>
  </p:cSld>
  <p:clrMap bg1="dk1" tx1="lt1" bg2="dk2" tx2="lt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 id="2147483813"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23.sv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9235440" y="-1371600"/>
            <a:ext cx="4572000" cy="4572000"/>
          </a:xfrm>
          <a:prstGeom prst="ellipse">
            <a:avLst/>
          </a:prstGeom>
          <a:solidFill>
            <a:srgbClr val="6D28D9">
              <a:alpha val="45000"/>
            </a:srgbClr>
          </a:solidFill>
          <a:ln/>
        </p:spPr>
        <p:txBody>
          <a:bodyPr/>
          <a:lstStyle/>
          <a:p>
            <a:endParaRPr lang="en-IN"/>
          </a:p>
        </p:txBody>
      </p:sp>
      <p:sp>
        <p:nvSpPr>
          <p:cNvPr id="3" name="Shape 1"/>
          <p:cNvSpPr/>
          <p:nvPr/>
        </p:nvSpPr>
        <p:spPr>
          <a:xfrm>
            <a:off x="10607040" y="2194560"/>
            <a:ext cx="2011680" cy="2011680"/>
          </a:xfrm>
          <a:prstGeom prst="ellipse">
            <a:avLst/>
          </a:prstGeom>
          <a:solidFill>
            <a:srgbClr val="EC4899">
              <a:alpha val="35000"/>
            </a:srgbClr>
          </a:solidFill>
          <a:ln/>
        </p:spPr>
        <p:txBody>
          <a:bodyPr/>
          <a:lstStyle/>
          <a:p>
            <a:endParaRPr lang="en-IN"/>
          </a:p>
        </p:txBody>
      </p:sp>
      <p:sp>
        <p:nvSpPr>
          <p:cNvPr id="4" name="Shape 2"/>
          <p:cNvSpPr/>
          <p:nvPr/>
        </p:nvSpPr>
        <p:spPr>
          <a:xfrm>
            <a:off x="-1097280" y="4206240"/>
            <a:ext cx="3108960" cy="3108960"/>
          </a:xfrm>
          <a:prstGeom prst="ellipse">
            <a:avLst/>
          </a:prstGeom>
          <a:solidFill>
            <a:srgbClr val="0EA5A4">
              <a:alpha val="30000"/>
            </a:srgbClr>
          </a:solidFill>
          <a:ln/>
        </p:spPr>
        <p:txBody>
          <a:bodyPr/>
          <a:lstStyle/>
          <a:p>
            <a:endParaRPr lang="en-IN"/>
          </a:p>
        </p:txBody>
      </p:sp>
      <p:sp>
        <p:nvSpPr>
          <p:cNvPr id="5" name="Text 3"/>
          <p:cNvSpPr txBox="1"/>
          <p:nvPr/>
        </p:nvSpPr>
        <p:spPr>
          <a:xfrm>
            <a:off x="685800" y="960120"/>
            <a:ext cx="7315200" cy="274320"/>
          </a:xfrm>
          <a:prstGeom prst="rect">
            <a:avLst/>
          </a:prstGeom>
          <a:noFill/>
          <a:ln/>
        </p:spPr>
        <p:txBody>
          <a:bodyPr wrap="square" lIns="0" tIns="0" rIns="0" bIns="0" rtlCol="0" anchor="ctr"/>
          <a:lstStyle/>
          <a:p>
            <a:pPr marL="0" indent="0">
              <a:buNone/>
            </a:pPr>
            <a:r>
              <a:rPr lang="en-US" sz="1250" b="1" kern="0" spc="400" dirty="0">
                <a:solidFill>
                  <a:srgbClr val="FF6B6B"/>
                </a:solidFill>
                <a:latin typeface="Calibri" pitchFamily="34" charset="0"/>
                <a:ea typeface="Calibri" pitchFamily="34" charset="-122"/>
                <a:cs typeface="Calibri" pitchFamily="34" charset="-120"/>
              </a:rPr>
              <a:t>ACADEMIC PROJECT PRESENTATION</a:t>
            </a:r>
            <a:endParaRPr lang="en-US" sz="1250" dirty="0"/>
          </a:p>
        </p:txBody>
      </p:sp>
      <p:sp>
        <p:nvSpPr>
          <p:cNvPr id="6" name="Text 4"/>
          <p:cNvSpPr txBox="1"/>
          <p:nvPr/>
        </p:nvSpPr>
        <p:spPr>
          <a:xfrm>
            <a:off x="685800" y="1325880"/>
            <a:ext cx="8412480" cy="1828800"/>
          </a:xfrm>
          <a:prstGeom prst="rect">
            <a:avLst/>
          </a:prstGeom>
          <a:noFill/>
          <a:ln/>
        </p:spPr>
        <p:txBody>
          <a:bodyPr wrap="square" lIns="0" tIns="0" rIns="0" bIns="0" rtlCol="0" anchor="ctr"/>
          <a:lstStyle/>
          <a:p>
            <a:pPr marL="0" indent="0">
              <a:lnSpc>
                <a:spcPts val="5400"/>
              </a:lnSpc>
              <a:buNone/>
            </a:pPr>
            <a:r>
              <a:rPr lang="en-US" sz="5200" b="1" dirty="0">
                <a:solidFill>
                  <a:srgbClr val="FFFFFF"/>
                </a:solidFill>
                <a:latin typeface="Calibri" pitchFamily="34" charset="0"/>
                <a:ea typeface="Calibri" pitchFamily="34" charset="-122"/>
                <a:cs typeface="Calibri" pitchFamily="34" charset="-120"/>
              </a:rPr>
              <a:t>Student Management</a:t>
            </a:r>
            <a:endParaRPr lang="en-US" sz="5200" dirty="0"/>
          </a:p>
          <a:p>
            <a:pPr marL="0" indent="0">
              <a:lnSpc>
                <a:spcPts val="5400"/>
              </a:lnSpc>
              <a:buNone/>
            </a:pPr>
            <a:r>
              <a:rPr lang="en-US" sz="5200" b="1" dirty="0">
                <a:solidFill>
                  <a:srgbClr val="FFFFFF"/>
                </a:solidFill>
                <a:latin typeface="Calibri" pitchFamily="34" charset="0"/>
                <a:ea typeface="Calibri" pitchFamily="34" charset="-122"/>
                <a:cs typeface="Calibri" pitchFamily="34" charset="-120"/>
              </a:rPr>
              <a:t>System</a:t>
            </a:r>
            <a:endParaRPr lang="en-US" sz="5200" dirty="0"/>
          </a:p>
        </p:txBody>
      </p:sp>
      <p:sp>
        <p:nvSpPr>
          <p:cNvPr id="7" name="Text 5"/>
          <p:cNvSpPr txBox="1"/>
          <p:nvPr/>
        </p:nvSpPr>
        <p:spPr>
          <a:xfrm>
            <a:off x="713232" y="3246120"/>
            <a:ext cx="7680960" cy="731520"/>
          </a:xfrm>
          <a:prstGeom prst="rect">
            <a:avLst/>
          </a:prstGeom>
          <a:noFill/>
          <a:ln/>
        </p:spPr>
        <p:txBody>
          <a:bodyPr wrap="square" lIns="0" tIns="0" rIns="0" bIns="0" rtlCol="0" anchor="ctr"/>
          <a:lstStyle/>
          <a:p>
            <a:pPr marL="0" indent="0">
              <a:lnSpc>
                <a:spcPts val="2400"/>
              </a:lnSpc>
              <a:buNone/>
            </a:pPr>
            <a:r>
              <a:rPr lang="en-US" sz="1650" dirty="0">
                <a:solidFill>
                  <a:srgbClr val="C7D2FE"/>
                </a:solidFill>
                <a:latin typeface="Calibri" pitchFamily="34" charset="0"/>
                <a:ea typeface="Calibri" pitchFamily="34" charset="-122"/>
                <a:cs typeface="Calibri" pitchFamily="34" charset="-120"/>
              </a:rPr>
              <a:t>A unified web platform to manage student records, courses, attendance, results and fees — securely, and in real time.</a:t>
            </a:r>
            <a:endParaRPr lang="en-US" sz="1650" dirty="0"/>
          </a:p>
        </p:txBody>
      </p:sp>
      <p:sp>
        <p:nvSpPr>
          <p:cNvPr id="8" name="Text 6"/>
          <p:cNvSpPr txBox="1"/>
          <p:nvPr/>
        </p:nvSpPr>
        <p:spPr>
          <a:xfrm>
            <a:off x="685800" y="4315968"/>
            <a:ext cx="4572000" cy="256032"/>
          </a:xfrm>
          <a:prstGeom prst="rect">
            <a:avLst/>
          </a:prstGeom>
          <a:noFill/>
          <a:ln/>
        </p:spPr>
        <p:txBody>
          <a:bodyPr wrap="square" lIns="0" tIns="0" rIns="0" bIns="0" rtlCol="0" anchor="ctr"/>
          <a:lstStyle/>
          <a:p>
            <a:pPr marL="0" indent="0">
              <a:buNone/>
            </a:pPr>
            <a:r>
              <a:rPr lang="en-US" sz="1100" b="1" kern="0" spc="300" dirty="0">
                <a:solidFill>
                  <a:srgbClr val="818CF8"/>
                </a:solidFill>
                <a:latin typeface="Calibri" pitchFamily="34" charset="0"/>
                <a:ea typeface="Calibri" pitchFamily="34" charset="-122"/>
                <a:cs typeface="Calibri" pitchFamily="34" charset="-120"/>
              </a:rPr>
              <a:t>PRESENTED BY</a:t>
            </a:r>
            <a:endParaRPr lang="en-US" sz="1100" dirty="0"/>
          </a:p>
        </p:txBody>
      </p:sp>
      <p:sp>
        <p:nvSpPr>
          <p:cNvPr id="9" name="Shape 7"/>
          <p:cNvSpPr/>
          <p:nvPr/>
        </p:nvSpPr>
        <p:spPr>
          <a:xfrm>
            <a:off x="548640" y="4681728"/>
            <a:ext cx="2057400" cy="1444752"/>
          </a:xfrm>
          <a:prstGeom prst="roundRect">
            <a:avLst>
              <a:gd name="adj" fmla="val 8861"/>
            </a:avLst>
          </a:prstGeom>
          <a:solidFill>
            <a:srgbClr val="2A2660"/>
          </a:solidFill>
          <a:ln w="12700">
            <a:solidFill>
              <a:srgbClr val="3A3480"/>
            </a:solidFill>
            <a:prstDash val="solid"/>
          </a:ln>
        </p:spPr>
        <p:txBody>
          <a:bodyPr/>
          <a:lstStyle/>
          <a:p>
            <a:endParaRPr lang="en-IN" dirty="0"/>
          </a:p>
        </p:txBody>
      </p:sp>
      <p:sp>
        <p:nvSpPr>
          <p:cNvPr id="10" name="Shape 8"/>
          <p:cNvSpPr/>
          <p:nvPr/>
        </p:nvSpPr>
        <p:spPr>
          <a:xfrm>
            <a:off x="1298448" y="4864608"/>
            <a:ext cx="566928" cy="566928"/>
          </a:xfrm>
          <a:prstGeom prst="ellipse">
            <a:avLst/>
          </a:prstGeom>
          <a:solidFill>
            <a:srgbClr val="FF6B6B"/>
          </a:solidFill>
          <a:ln/>
        </p:spPr>
        <p:txBody>
          <a:bodyPr/>
          <a:lstStyle/>
          <a:p>
            <a:endParaRPr lang="en-IN"/>
          </a:p>
        </p:txBody>
      </p:sp>
      <p:sp>
        <p:nvSpPr>
          <p:cNvPr id="11" name="Text 9"/>
          <p:cNvSpPr txBox="1"/>
          <p:nvPr/>
        </p:nvSpPr>
        <p:spPr>
          <a:xfrm>
            <a:off x="1298448"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AS</a:t>
            </a:r>
            <a:endParaRPr lang="en-US" sz="1500" dirty="0"/>
          </a:p>
        </p:txBody>
      </p:sp>
      <p:sp>
        <p:nvSpPr>
          <p:cNvPr id="12" name="Text 10"/>
          <p:cNvSpPr txBox="1"/>
          <p:nvPr/>
        </p:nvSpPr>
        <p:spPr>
          <a:xfrm>
            <a:off x="621792" y="5532120"/>
            <a:ext cx="1911096"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Ram Gopal Varma</a:t>
            </a:r>
            <a:endParaRPr lang="en-US" sz="1250" dirty="0"/>
          </a:p>
        </p:txBody>
      </p:sp>
      <p:sp>
        <p:nvSpPr>
          <p:cNvPr id="13" name="Text 11"/>
          <p:cNvSpPr txBox="1"/>
          <p:nvPr/>
        </p:nvSpPr>
        <p:spPr>
          <a:xfrm>
            <a:off x="621792" y="5788152"/>
            <a:ext cx="1911096" cy="237744"/>
          </a:xfrm>
          <a:prstGeom prst="rect">
            <a:avLst/>
          </a:prstGeom>
          <a:noFill/>
          <a:ln/>
        </p:spPr>
        <p:txBody>
          <a:bodyPr wrap="square" lIns="0" tIns="0" rIns="0" bIns="0" rtlCol="0" anchor="ctr"/>
          <a:lstStyle/>
          <a:p>
            <a:pPr marL="0" indent="0" algn="ctr">
              <a:buNone/>
            </a:pPr>
            <a:r>
              <a:rPr lang="en-US" sz="1000" dirty="0">
                <a:solidFill>
                  <a:srgbClr val="818CF8"/>
                </a:solidFill>
                <a:latin typeface="Calibri" pitchFamily="34" charset="0"/>
                <a:ea typeface="Calibri" pitchFamily="34" charset="-122"/>
                <a:cs typeface="Calibri" pitchFamily="34" charset="-120"/>
              </a:rPr>
              <a:t>Team Lead</a:t>
            </a:r>
            <a:endParaRPr lang="en-US" sz="1000" dirty="0"/>
          </a:p>
        </p:txBody>
      </p:sp>
      <p:sp>
        <p:nvSpPr>
          <p:cNvPr id="14" name="Shape 12"/>
          <p:cNvSpPr/>
          <p:nvPr/>
        </p:nvSpPr>
        <p:spPr>
          <a:xfrm>
            <a:off x="2807208" y="4681728"/>
            <a:ext cx="2057400" cy="1444752"/>
          </a:xfrm>
          <a:prstGeom prst="roundRect">
            <a:avLst>
              <a:gd name="adj" fmla="val 8861"/>
            </a:avLst>
          </a:prstGeom>
          <a:solidFill>
            <a:srgbClr val="2A2660"/>
          </a:solidFill>
          <a:ln w="12700">
            <a:solidFill>
              <a:srgbClr val="3A3480"/>
            </a:solidFill>
            <a:prstDash val="solid"/>
          </a:ln>
        </p:spPr>
        <p:txBody>
          <a:bodyPr/>
          <a:lstStyle/>
          <a:p>
            <a:endParaRPr lang="en-IN"/>
          </a:p>
        </p:txBody>
      </p:sp>
      <p:sp>
        <p:nvSpPr>
          <p:cNvPr id="15" name="Shape 13"/>
          <p:cNvSpPr/>
          <p:nvPr/>
        </p:nvSpPr>
        <p:spPr>
          <a:xfrm>
            <a:off x="3557016" y="4864608"/>
            <a:ext cx="566928" cy="566928"/>
          </a:xfrm>
          <a:prstGeom prst="ellipse">
            <a:avLst/>
          </a:prstGeom>
          <a:solidFill>
            <a:srgbClr val="F59E0B"/>
          </a:solidFill>
          <a:ln/>
        </p:spPr>
        <p:txBody>
          <a:bodyPr/>
          <a:lstStyle/>
          <a:p>
            <a:endParaRPr lang="en-IN"/>
          </a:p>
        </p:txBody>
      </p:sp>
      <p:sp>
        <p:nvSpPr>
          <p:cNvPr id="16" name="Text 14"/>
          <p:cNvSpPr txBox="1"/>
          <p:nvPr/>
        </p:nvSpPr>
        <p:spPr>
          <a:xfrm>
            <a:off x="3557016"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PN</a:t>
            </a:r>
            <a:endParaRPr lang="en-US" sz="1500" dirty="0"/>
          </a:p>
        </p:txBody>
      </p:sp>
      <p:sp>
        <p:nvSpPr>
          <p:cNvPr id="17" name="Text 15"/>
          <p:cNvSpPr txBox="1"/>
          <p:nvPr/>
        </p:nvSpPr>
        <p:spPr>
          <a:xfrm>
            <a:off x="2880360" y="5532120"/>
            <a:ext cx="1911096" cy="274320"/>
          </a:xfrm>
          <a:prstGeom prst="rect">
            <a:avLst/>
          </a:prstGeom>
          <a:noFill/>
          <a:ln/>
        </p:spPr>
        <p:txBody>
          <a:bodyPr wrap="square" lIns="0" tIns="0" rIns="0" bIns="0" rtlCol="0" anchor="ctr"/>
          <a:lstStyle/>
          <a:p>
            <a:pPr marL="0" indent="0" algn="ctr">
              <a:buNone/>
            </a:pPr>
            <a:r>
              <a:rPr lang="en-US" sz="1250" b="1" dirty="0" err="1">
                <a:solidFill>
                  <a:srgbClr val="FFFFFF"/>
                </a:solidFill>
                <a:latin typeface="Calibri" pitchFamily="34" charset="0"/>
                <a:ea typeface="Calibri" pitchFamily="34" charset="-122"/>
                <a:cs typeface="Calibri" pitchFamily="34" charset="-120"/>
              </a:rPr>
              <a:t>Somalingam</a:t>
            </a:r>
            <a:endParaRPr lang="en-US" sz="1250" dirty="0"/>
          </a:p>
        </p:txBody>
      </p:sp>
      <p:sp>
        <p:nvSpPr>
          <p:cNvPr id="18" name="Text 16"/>
          <p:cNvSpPr txBox="1"/>
          <p:nvPr/>
        </p:nvSpPr>
        <p:spPr>
          <a:xfrm>
            <a:off x="2880360" y="5788152"/>
            <a:ext cx="1911096" cy="237744"/>
          </a:xfrm>
          <a:prstGeom prst="rect">
            <a:avLst/>
          </a:prstGeom>
          <a:noFill/>
          <a:ln/>
        </p:spPr>
        <p:txBody>
          <a:bodyPr wrap="square" lIns="0" tIns="0" rIns="0" bIns="0" rtlCol="0" anchor="ctr"/>
          <a:lstStyle/>
          <a:p>
            <a:pPr marL="0" indent="0" algn="ctr">
              <a:buNone/>
            </a:pPr>
            <a:r>
              <a:rPr lang="en-US" sz="1000" dirty="0">
                <a:solidFill>
                  <a:srgbClr val="818CF8"/>
                </a:solidFill>
                <a:latin typeface="Calibri" pitchFamily="34" charset="0"/>
                <a:ea typeface="Calibri" pitchFamily="34" charset="-122"/>
                <a:cs typeface="Calibri" pitchFamily="34" charset="-120"/>
              </a:rPr>
              <a:t>Frontend</a:t>
            </a:r>
            <a:endParaRPr lang="en-US" sz="1000" dirty="0"/>
          </a:p>
        </p:txBody>
      </p:sp>
      <p:sp>
        <p:nvSpPr>
          <p:cNvPr id="19" name="Shape 17"/>
          <p:cNvSpPr/>
          <p:nvPr/>
        </p:nvSpPr>
        <p:spPr>
          <a:xfrm>
            <a:off x="5065776" y="4681728"/>
            <a:ext cx="2057400" cy="1444752"/>
          </a:xfrm>
          <a:prstGeom prst="roundRect">
            <a:avLst>
              <a:gd name="adj" fmla="val 8861"/>
            </a:avLst>
          </a:prstGeom>
          <a:solidFill>
            <a:srgbClr val="2A2660"/>
          </a:solidFill>
          <a:ln w="12700">
            <a:solidFill>
              <a:srgbClr val="3A3480"/>
            </a:solidFill>
            <a:prstDash val="solid"/>
          </a:ln>
        </p:spPr>
        <p:txBody>
          <a:bodyPr/>
          <a:lstStyle/>
          <a:p>
            <a:endParaRPr lang="en-IN"/>
          </a:p>
        </p:txBody>
      </p:sp>
      <p:sp>
        <p:nvSpPr>
          <p:cNvPr id="20" name="Shape 18"/>
          <p:cNvSpPr/>
          <p:nvPr/>
        </p:nvSpPr>
        <p:spPr>
          <a:xfrm>
            <a:off x="5815584" y="4864608"/>
            <a:ext cx="566928" cy="566928"/>
          </a:xfrm>
          <a:prstGeom prst="ellipse">
            <a:avLst/>
          </a:prstGeom>
          <a:solidFill>
            <a:srgbClr val="0EA5A4"/>
          </a:solidFill>
          <a:ln/>
        </p:spPr>
        <p:txBody>
          <a:bodyPr/>
          <a:lstStyle/>
          <a:p>
            <a:endParaRPr lang="en-IN"/>
          </a:p>
        </p:txBody>
      </p:sp>
      <p:sp>
        <p:nvSpPr>
          <p:cNvPr id="21" name="Text 19"/>
          <p:cNvSpPr txBox="1"/>
          <p:nvPr/>
        </p:nvSpPr>
        <p:spPr>
          <a:xfrm>
            <a:off x="5815584"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RM</a:t>
            </a:r>
            <a:endParaRPr lang="en-US" sz="1500" dirty="0"/>
          </a:p>
        </p:txBody>
      </p:sp>
      <p:sp>
        <p:nvSpPr>
          <p:cNvPr id="22" name="Text 20"/>
          <p:cNvSpPr txBox="1"/>
          <p:nvPr/>
        </p:nvSpPr>
        <p:spPr>
          <a:xfrm>
            <a:off x="5138928" y="5532120"/>
            <a:ext cx="1911096"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Rama</a:t>
            </a:r>
            <a:endParaRPr lang="en-US" sz="1250" dirty="0"/>
          </a:p>
        </p:txBody>
      </p:sp>
      <p:sp>
        <p:nvSpPr>
          <p:cNvPr id="23" name="Text 21"/>
          <p:cNvSpPr txBox="1"/>
          <p:nvPr/>
        </p:nvSpPr>
        <p:spPr>
          <a:xfrm>
            <a:off x="5138928" y="5788152"/>
            <a:ext cx="1911096" cy="237744"/>
          </a:xfrm>
          <a:prstGeom prst="rect">
            <a:avLst/>
          </a:prstGeom>
          <a:noFill/>
          <a:ln/>
        </p:spPr>
        <p:txBody>
          <a:bodyPr wrap="square" lIns="0" tIns="0" rIns="0" bIns="0" rtlCol="0" anchor="ctr"/>
          <a:lstStyle/>
          <a:p>
            <a:pPr marL="0" indent="0" algn="ctr">
              <a:buNone/>
            </a:pPr>
            <a:r>
              <a:rPr lang="en-US" sz="1000" dirty="0">
                <a:solidFill>
                  <a:srgbClr val="818CF8"/>
                </a:solidFill>
                <a:latin typeface="Calibri" pitchFamily="34" charset="0"/>
                <a:ea typeface="Calibri" pitchFamily="34" charset="-122"/>
                <a:cs typeface="Calibri" pitchFamily="34" charset="-120"/>
              </a:rPr>
              <a:t>Backend</a:t>
            </a:r>
            <a:endParaRPr lang="en-US" sz="1000" dirty="0"/>
          </a:p>
        </p:txBody>
      </p:sp>
      <p:sp>
        <p:nvSpPr>
          <p:cNvPr id="24" name="Shape 22"/>
          <p:cNvSpPr/>
          <p:nvPr/>
        </p:nvSpPr>
        <p:spPr>
          <a:xfrm>
            <a:off x="7324344" y="4681728"/>
            <a:ext cx="2057400" cy="1444752"/>
          </a:xfrm>
          <a:prstGeom prst="roundRect">
            <a:avLst>
              <a:gd name="adj" fmla="val 8861"/>
            </a:avLst>
          </a:prstGeom>
          <a:solidFill>
            <a:srgbClr val="2A2660"/>
          </a:solidFill>
          <a:ln w="12700">
            <a:solidFill>
              <a:srgbClr val="3A3480"/>
            </a:solidFill>
            <a:prstDash val="solid"/>
          </a:ln>
        </p:spPr>
        <p:txBody>
          <a:bodyPr/>
          <a:lstStyle/>
          <a:p>
            <a:endParaRPr lang="en-IN"/>
          </a:p>
        </p:txBody>
      </p:sp>
      <p:sp>
        <p:nvSpPr>
          <p:cNvPr id="25" name="Shape 23"/>
          <p:cNvSpPr/>
          <p:nvPr/>
        </p:nvSpPr>
        <p:spPr>
          <a:xfrm>
            <a:off x="8074152" y="4864608"/>
            <a:ext cx="566928" cy="566928"/>
          </a:xfrm>
          <a:prstGeom prst="ellipse">
            <a:avLst/>
          </a:prstGeom>
          <a:solidFill>
            <a:srgbClr val="3B82F6"/>
          </a:solidFill>
          <a:ln/>
        </p:spPr>
        <p:txBody>
          <a:bodyPr/>
          <a:lstStyle/>
          <a:p>
            <a:endParaRPr lang="en-IN"/>
          </a:p>
        </p:txBody>
      </p:sp>
      <p:sp>
        <p:nvSpPr>
          <p:cNvPr id="26" name="Text 24"/>
          <p:cNvSpPr txBox="1"/>
          <p:nvPr/>
        </p:nvSpPr>
        <p:spPr>
          <a:xfrm>
            <a:off x="8074152"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SP</a:t>
            </a:r>
            <a:endParaRPr lang="en-US" sz="1500" dirty="0"/>
          </a:p>
        </p:txBody>
      </p:sp>
      <p:sp>
        <p:nvSpPr>
          <p:cNvPr id="27" name="Text 25"/>
          <p:cNvSpPr txBox="1"/>
          <p:nvPr/>
        </p:nvSpPr>
        <p:spPr>
          <a:xfrm>
            <a:off x="7397496" y="5532120"/>
            <a:ext cx="1911096" cy="274320"/>
          </a:xfrm>
          <a:prstGeom prst="rect">
            <a:avLst/>
          </a:prstGeom>
          <a:noFill/>
          <a:ln/>
        </p:spPr>
        <p:txBody>
          <a:bodyPr wrap="square" lIns="0" tIns="0" rIns="0" bIns="0" rtlCol="0" anchor="ctr"/>
          <a:lstStyle/>
          <a:p>
            <a:pPr marL="0" indent="0" algn="ctr">
              <a:buNone/>
            </a:pPr>
            <a:r>
              <a:rPr lang="en-US" sz="1250" b="1" dirty="0" err="1">
                <a:solidFill>
                  <a:srgbClr val="FFFFFF"/>
                </a:solidFill>
                <a:latin typeface="Calibri" pitchFamily="34" charset="0"/>
                <a:ea typeface="Calibri" pitchFamily="34" charset="-122"/>
                <a:cs typeface="Calibri" pitchFamily="34" charset="-120"/>
              </a:rPr>
              <a:t>lakshmi</a:t>
            </a:r>
            <a:endParaRPr lang="en-US" sz="1250" dirty="0"/>
          </a:p>
        </p:txBody>
      </p:sp>
      <p:sp>
        <p:nvSpPr>
          <p:cNvPr id="28" name="Text 26"/>
          <p:cNvSpPr txBox="1"/>
          <p:nvPr/>
        </p:nvSpPr>
        <p:spPr>
          <a:xfrm>
            <a:off x="7397496" y="5788152"/>
            <a:ext cx="1911096" cy="237744"/>
          </a:xfrm>
          <a:prstGeom prst="rect">
            <a:avLst/>
          </a:prstGeom>
          <a:noFill/>
          <a:ln/>
        </p:spPr>
        <p:txBody>
          <a:bodyPr wrap="square" lIns="0" tIns="0" rIns="0" bIns="0" rtlCol="0" anchor="ctr"/>
          <a:lstStyle/>
          <a:p>
            <a:pPr marL="0" indent="0" algn="ctr">
              <a:buNone/>
            </a:pPr>
            <a:r>
              <a:rPr lang="en-US" sz="1000" dirty="0">
                <a:solidFill>
                  <a:srgbClr val="818CF8"/>
                </a:solidFill>
                <a:latin typeface="Calibri" pitchFamily="34" charset="0"/>
                <a:ea typeface="Calibri" pitchFamily="34" charset="-122"/>
                <a:cs typeface="Calibri" pitchFamily="34" charset="-120"/>
              </a:rPr>
              <a:t>Database</a:t>
            </a:r>
            <a:endParaRPr lang="en-US" sz="1000" dirty="0"/>
          </a:p>
        </p:txBody>
      </p:sp>
      <p:sp>
        <p:nvSpPr>
          <p:cNvPr id="29" name="Shape 27"/>
          <p:cNvSpPr/>
          <p:nvPr/>
        </p:nvSpPr>
        <p:spPr>
          <a:xfrm>
            <a:off x="9582912" y="4681728"/>
            <a:ext cx="2057400" cy="1444752"/>
          </a:xfrm>
          <a:prstGeom prst="roundRect">
            <a:avLst>
              <a:gd name="adj" fmla="val 8861"/>
            </a:avLst>
          </a:prstGeom>
          <a:solidFill>
            <a:srgbClr val="2A2660"/>
          </a:solidFill>
          <a:ln w="12700">
            <a:solidFill>
              <a:srgbClr val="3A3480"/>
            </a:solidFill>
            <a:prstDash val="solid"/>
          </a:ln>
        </p:spPr>
        <p:txBody>
          <a:bodyPr/>
          <a:lstStyle/>
          <a:p>
            <a:endParaRPr lang="en-IN"/>
          </a:p>
        </p:txBody>
      </p:sp>
      <p:sp>
        <p:nvSpPr>
          <p:cNvPr id="30" name="Shape 28"/>
          <p:cNvSpPr/>
          <p:nvPr/>
        </p:nvSpPr>
        <p:spPr>
          <a:xfrm>
            <a:off x="10332720" y="4864608"/>
            <a:ext cx="566928" cy="566928"/>
          </a:xfrm>
          <a:prstGeom prst="ellipse">
            <a:avLst/>
          </a:prstGeom>
          <a:solidFill>
            <a:srgbClr val="EC4899"/>
          </a:solidFill>
          <a:ln/>
        </p:spPr>
        <p:txBody>
          <a:bodyPr/>
          <a:lstStyle/>
          <a:p>
            <a:endParaRPr lang="en-IN"/>
          </a:p>
        </p:txBody>
      </p:sp>
      <p:sp>
        <p:nvSpPr>
          <p:cNvPr id="31" name="Text 29"/>
          <p:cNvSpPr txBox="1"/>
          <p:nvPr/>
        </p:nvSpPr>
        <p:spPr>
          <a:xfrm>
            <a:off x="10332720" y="48646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KS</a:t>
            </a:r>
            <a:endParaRPr lang="en-US" sz="1500" dirty="0"/>
          </a:p>
        </p:txBody>
      </p:sp>
      <p:sp>
        <p:nvSpPr>
          <p:cNvPr id="32" name="Text 30"/>
          <p:cNvSpPr txBox="1"/>
          <p:nvPr/>
        </p:nvSpPr>
        <p:spPr>
          <a:xfrm>
            <a:off x="9656064" y="5532120"/>
            <a:ext cx="1911096"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Sarojini</a:t>
            </a:r>
            <a:endParaRPr lang="en-US" sz="1250" dirty="0"/>
          </a:p>
        </p:txBody>
      </p:sp>
      <p:sp>
        <p:nvSpPr>
          <p:cNvPr id="33" name="Text 31"/>
          <p:cNvSpPr txBox="1"/>
          <p:nvPr/>
        </p:nvSpPr>
        <p:spPr>
          <a:xfrm>
            <a:off x="9656064" y="5788152"/>
            <a:ext cx="1911096" cy="237744"/>
          </a:xfrm>
          <a:prstGeom prst="rect">
            <a:avLst/>
          </a:prstGeom>
          <a:noFill/>
          <a:ln/>
        </p:spPr>
        <p:txBody>
          <a:bodyPr wrap="square" lIns="0" tIns="0" rIns="0" bIns="0" rtlCol="0" anchor="ctr"/>
          <a:lstStyle/>
          <a:p>
            <a:pPr marL="0" indent="0" algn="ctr">
              <a:buNone/>
            </a:pPr>
            <a:r>
              <a:rPr lang="en-US" sz="1000" dirty="0">
                <a:solidFill>
                  <a:srgbClr val="818CF8"/>
                </a:solidFill>
                <a:latin typeface="Calibri" pitchFamily="34" charset="0"/>
                <a:ea typeface="Calibri" pitchFamily="34" charset="-122"/>
                <a:cs typeface="Calibri" pitchFamily="34" charset="-120"/>
              </a:rPr>
              <a:t>Testing &amp; Docs</a:t>
            </a:r>
            <a:endParaRPr lang="en-US" sz="1000" dirty="0"/>
          </a:p>
        </p:txBody>
      </p:sp>
      <p:sp>
        <p:nvSpPr>
          <p:cNvPr id="34" name="Text 32"/>
          <p:cNvSpPr txBox="1"/>
          <p:nvPr/>
        </p:nvSpPr>
        <p:spPr>
          <a:xfrm>
            <a:off x="548640" y="6327648"/>
            <a:ext cx="10515600" cy="274320"/>
          </a:xfrm>
          <a:prstGeom prst="rect">
            <a:avLst/>
          </a:prstGeom>
          <a:noFill/>
          <a:ln/>
        </p:spPr>
        <p:txBody>
          <a:bodyPr wrap="square" lIns="0" tIns="0" rIns="0" bIns="0" rtlCol="0" anchor="ctr"/>
          <a:lstStyle/>
          <a:p>
            <a:pPr marL="0" indent="0" algn="ctr">
              <a:buNone/>
            </a:pPr>
            <a:r>
              <a:rPr lang="en-US" sz="1050" dirty="0">
                <a:solidFill>
                  <a:srgbClr val="6F6BA8"/>
                </a:solidFill>
                <a:latin typeface="Calibri" pitchFamily="34" charset="0"/>
                <a:ea typeface="Calibri" pitchFamily="34" charset="-122"/>
                <a:cs typeface="Calibri" pitchFamily="34" charset="-120"/>
              </a:rPr>
              <a:t>Department of Computer Science  ·  Academic Year 2025–26</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FF6B6B"/>
                </a:solidFill>
                <a:latin typeface="Calibri" pitchFamily="34" charset="0"/>
                <a:ea typeface="Calibri" pitchFamily="34" charset="-122"/>
                <a:cs typeface="Calibri" pitchFamily="34" charset="-120"/>
              </a:rPr>
              <a:t>01  —  OVERVIEW</a:t>
            </a:r>
            <a:endParaRPr lang="en-US" sz="1150" dirty="0"/>
          </a:p>
        </p:txBody>
      </p:sp>
      <p:sp>
        <p:nvSpPr>
          <p:cNvPr id="3" name="Text 1"/>
          <p:cNvSpPr txBox="1"/>
          <p:nvPr/>
        </p:nvSpPr>
        <p:spPr>
          <a:xfrm>
            <a:off x="640080" y="676656"/>
            <a:ext cx="9144000" cy="731520"/>
          </a:xfrm>
          <a:prstGeom prst="rect">
            <a:avLst/>
          </a:prstGeom>
          <a:noFill/>
          <a:ln/>
        </p:spPr>
        <p:txBody>
          <a:bodyPr wrap="square" lIns="0" tIns="0" rIns="0" bIns="0" rtlCol="0" anchor="ctr"/>
          <a:lstStyle/>
          <a:p>
            <a:pPr marL="0" indent="0">
              <a:buNone/>
            </a:pPr>
            <a:r>
              <a:rPr lang="en-US" sz="3800" b="1" dirty="0">
                <a:solidFill>
                  <a:srgbClr val="1E1B4B"/>
                </a:solidFill>
                <a:latin typeface="Calibri" pitchFamily="34" charset="0"/>
                <a:ea typeface="Calibri" pitchFamily="34" charset="-122"/>
                <a:cs typeface="Calibri" pitchFamily="34" charset="-120"/>
              </a:rPr>
              <a:t>Introduction</a:t>
            </a:r>
            <a:endParaRPr lang="en-US" sz="3800" dirty="0"/>
          </a:p>
        </p:txBody>
      </p:sp>
      <p:sp>
        <p:nvSpPr>
          <p:cNvPr id="4" name="Text 2"/>
          <p:cNvSpPr txBox="1"/>
          <p:nvPr/>
        </p:nvSpPr>
        <p:spPr>
          <a:xfrm>
            <a:off x="640080" y="1755648"/>
            <a:ext cx="5943600" cy="3200400"/>
          </a:xfrm>
          <a:prstGeom prst="rect">
            <a:avLst/>
          </a:prstGeom>
          <a:noFill/>
          <a:ln/>
        </p:spPr>
        <p:txBody>
          <a:bodyPr wrap="square" lIns="0" tIns="0" rIns="0" bIns="0" rtlCol="0" anchor="t"/>
          <a:lstStyle/>
          <a:p>
            <a:pPr marL="0" indent="0">
              <a:lnSpc>
                <a:spcPts val="2300"/>
              </a:lnSpc>
              <a:spcAft>
                <a:spcPts val="1400"/>
              </a:spcAft>
              <a:buNone/>
            </a:pPr>
            <a:r>
              <a:rPr lang="en-US" sz="1500" dirty="0">
                <a:solidFill>
                  <a:srgbClr val="45426E"/>
                </a:solidFill>
                <a:latin typeface="Calibri" pitchFamily="34" charset="0"/>
                <a:ea typeface="Calibri" pitchFamily="34" charset="-122"/>
                <a:cs typeface="Calibri" pitchFamily="34" charset="-120"/>
              </a:rPr>
              <a:t>Every institution runs on student data — admissions, attendance, marks, fees and certificates. Most colleges still handle this across registers, loose spreadsheets and disconnected desktop tools.</a:t>
            </a:r>
            <a:endParaRPr lang="en-US" sz="1500" dirty="0"/>
          </a:p>
          <a:p>
            <a:pPr marL="0" indent="0">
              <a:lnSpc>
                <a:spcPts val="2300"/>
              </a:lnSpc>
              <a:spcAft>
                <a:spcPts val="1400"/>
              </a:spcAft>
              <a:buNone/>
            </a:pPr>
            <a:r>
              <a:rPr lang="en-US" sz="1500" dirty="0">
                <a:solidFill>
                  <a:srgbClr val="45426E"/>
                </a:solidFill>
                <a:latin typeface="Calibri" pitchFamily="34" charset="0"/>
                <a:ea typeface="Calibri" pitchFamily="34" charset="-122"/>
                <a:cs typeface="Calibri" pitchFamily="34" charset="-120"/>
              </a:rPr>
              <a:t>The Student Management System (SMS) brings all of it into one web application backed by a single relational database, so information is entered once and used everywhere.</a:t>
            </a:r>
            <a:endParaRPr lang="en-US" sz="1500" dirty="0"/>
          </a:p>
          <a:p>
            <a:pPr marL="0" indent="0">
              <a:lnSpc>
                <a:spcPts val="2300"/>
              </a:lnSpc>
              <a:buNone/>
            </a:pPr>
            <a:r>
              <a:rPr lang="en-US" sz="1500" dirty="0">
                <a:solidFill>
                  <a:srgbClr val="45426E"/>
                </a:solidFill>
                <a:latin typeface="Calibri" pitchFamily="34" charset="0"/>
                <a:ea typeface="Calibri" pitchFamily="34" charset="-122"/>
                <a:cs typeface="Calibri" pitchFamily="34" charset="-120"/>
              </a:rPr>
              <a:t>It serves three roles — Administrator, Faculty and Student — each with its own secure login and its own view of the data. Records update in real time and reports are generated on demand.</a:t>
            </a:r>
            <a:endParaRPr lang="en-US" sz="1500" dirty="0"/>
          </a:p>
        </p:txBody>
      </p:sp>
      <p:sp>
        <p:nvSpPr>
          <p:cNvPr id="5" name="Shape 3"/>
          <p:cNvSpPr/>
          <p:nvPr/>
        </p:nvSpPr>
        <p:spPr>
          <a:xfrm>
            <a:off x="640080" y="5029200"/>
            <a:ext cx="5943600" cy="914400"/>
          </a:xfrm>
          <a:prstGeom prst="roundRect">
            <a:avLst>
              <a:gd name="adj" fmla="val 12000"/>
            </a:avLst>
          </a:prstGeom>
          <a:solidFill>
            <a:srgbClr val="EDE9FE"/>
          </a:solidFill>
          <a:ln/>
        </p:spPr>
        <p:txBody>
          <a:bodyPr/>
          <a:lstStyle/>
          <a:p>
            <a:endParaRPr lang="en-IN"/>
          </a:p>
        </p:txBody>
      </p:sp>
      <p:sp>
        <p:nvSpPr>
          <p:cNvPr id="6" name="Text 4"/>
          <p:cNvSpPr txBox="1"/>
          <p:nvPr/>
        </p:nvSpPr>
        <p:spPr>
          <a:xfrm>
            <a:off x="914400" y="5029200"/>
            <a:ext cx="5440680" cy="914400"/>
          </a:xfrm>
          <a:prstGeom prst="rect">
            <a:avLst/>
          </a:prstGeom>
          <a:noFill/>
          <a:ln/>
        </p:spPr>
        <p:txBody>
          <a:bodyPr wrap="square" lIns="0" tIns="0" rIns="0" bIns="0" rtlCol="0" anchor="ctr"/>
          <a:lstStyle/>
          <a:p>
            <a:pPr marL="0" indent="0">
              <a:lnSpc>
                <a:spcPts val="1900"/>
              </a:lnSpc>
              <a:buNone/>
            </a:pPr>
            <a:r>
              <a:rPr lang="en-US" sz="1300" b="1" dirty="0">
                <a:solidFill>
                  <a:srgbClr val="4C1D95"/>
                </a:solidFill>
                <a:latin typeface="Calibri" pitchFamily="34" charset="0"/>
                <a:ea typeface="Calibri" pitchFamily="34" charset="-122"/>
                <a:cs typeface="Calibri" pitchFamily="34" charset="-120"/>
              </a:rPr>
              <a:t>Objective: replace fragmented manual record-keeping with one secure, real-time platform used by administration, faculty and students alike.</a:t>
            </a:r>
            <a:endParaRPr lang="en-US" sz="1300" dirty="0"/>
          </a:p>
        </p:txBody>
      </p:sp>
      <p:sp>
        <p:nvSpPr>
          <p:cNvPr id="7" name="Shape 5"/>
          <p:cNvSpPr/>
          <p:nvPr/>
        </p:nvSpPr>
        <p:spPr>
          <a:xfrm>
            <a:off x="7086600" y="1783080"/>
            <a:ext cx="4462272" cy="1115568"/>
          </a:xfrm>
          <a:prstGeom prst="roundRect">
            <a:avLst>
              <a:gd name="adj" fmla="val 9836"/>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8" name="Shape 6"/>
          <p:cNvSpPr/>
          <p:nvPr/>
        </p:nvSpPr>
        <p:spPr>
          <a:xfrm>
            <a:off x="7360920" y="2057400"/>
            <a:ext cx="566928" cy="566928"/>
          </a:xfrm>
          <a:prstGeom prst="ellipse">
            <a:avLst/>
          </a:prstGeom>
          <a:solidFill>
            <a:srgbClr val="6D28D9"/>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7498080" y="2194560"/>
            <a:ext cx="292608" cy="292608"/>
          </a:xfrm>
          <a:prstGeom prst="rect">
            <a:avLst/>
          </a:prstGeom>
        </p:spPr>
      </p:pic>
      <p:sp>
        <p:nvSpPr>
          <p:cNvPr id="10" name="Text 7"/>
          <p:cNvSpPr txBox="1"/>
          <p:nvPr/>
        </p:nvSpPr>
        <p:spPr>
          <a:xfrm>
            <a:off x="8092440" y="1965960"/>
            <a:ext cx="1234440" cy="457200"/>
          </a:xfrm>
          <a:prstGeom prst="rect">
            <a:avLst/>
          </a:prstGeom>
          <a:noFill/>
          <a:ln/>
        </p:spPr>
        <p:txBody>
          <a:bodyPr wrap="square" lIns="0" tIns="0" rIns="0" bIns="0" rtlCol="0" anchor="ctr"/>
          <a:lstStyle/>
          <a:p>
            <a:pPr marL="0" indent="0">
              <a:buNone/>
            </a:pPr>
            <a:r>
              <a:rPr lang="en-US" sz="2800" b="1" dirty="0">
                <a:solidFill>
                  <a:srgbClr val="6D28D9"/>
                </a:solidFill>
                <a:latin typeface="Calibri" pitchFamily="34" charset="0"/>
                <a:ea typeface="Calibri" pitchFamily="34" charset="-122"/>
                <a:cs typeface="Calibri" pitchFamily="34" charset="-120"/>
              </a:rPr>
              <a:t>6+</a:t>
            </a:r>
            <a:endParaRPr lang="en-US" sz="2800" dirty="0"/>
          </a:p>
        </p:txBody>
      </p:sp>
      <p:sp>
        <p:nvSpPr>
          <p:cNvPr id="11" name="Text 8"/>
          <p:cNvSpPr txBox="1"/>
          <p:nvPr/>
        </p:nvSpPr>
        <p:spPr>
          <a:xfrm>
            <a:off x="8092440" y="2404872"/>
            <a:ext cx="3291840" cy="384048"/>
          </a:xfrm>
          <a:prstGeom prst="rect">
            <a:avLst/>
          </a:prstGeom>
          <a:noFill/>
          <a:ln/>
        </p:spPr>
        <p:txBody>
          <a:bodyPr wrap="square" lIns="0" tIns="0" rIns="0" bIns="0" rtlCol="0" anchor="ctr"/>
          <a:lstStyle/>
          <a:p>
            <a:pPr marL="0" indent="0">
              <a:buNone/>
            </a:pPr>
            <a:r>
              <a:rPr lang="en-US" sz="1200" dirty="0">
                <a:solidFill>
                  <a:srgbClr val="7C79A6"/>
                </a:solidFill>
                <a:latin typeface="Calibri" pitchFamily="34" charset="0"/>
                <a:ea typeface="Calibri" pitchFamily="34" charset="-122"/>
                <a:cs typeface="Calibri" pitchFamily="34" charset="-120"/>
              </a:rPr>
              <a:t>Integrated modules in one platform</a:t>
            </a:r>
            <a:endParaRPr lang="en-US" sz="1200" dirty="0"/>
          </a:p>
        </p:txBody>
      </p:sp>
      <p:sp>
        <p:nvSpPr>
          <p:cNvPr id="12" name="Shape 9"/>
          <p:cNvSpPr/>
          <p:nvPr/>
        </p:nvSpPr>
        <p:spPr>
          <a:xfrm>
            <a:off x="7086600" y="3081528"/>
            <a:ext cx="4462272" cy="1115568"/>
          </a:xfrm>
          <a:prstGeom prst="roundRect">
            <a:avLst>
              <a:gd name="adj" fmla="val 9836"/>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3" name="Shape 10"/>
          <p:cNvSpPr/>
          <p:nvPr/>
        </p:nvSpPr>
        <p:spPr>
          <a:xfrm>
            <a:off x="7360920" y="3355848"/>
            <a:ext cx="566928" cy="566928"/>
          </a:xfrm>
          <a:prstGeom prst="ellipse">
            <a:avLst/>
          </a:prstGeom>
          <a:solidFill>
            <a:srgbClr val="0EA5A4"/>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7498080" y="3493008"/>
            <a:ext cx="292608" cy="292608"/>
          </a:xfrm>
          <a:prstGeom prst="rect">
            <a:avLst/>
          </a:prstGeom>
        </p:spPr>
      </p:pic>
      <p:sp>
        <p:nvSpPr>
          <p:cNvPr id="15" name="Text 11"/>
          <p:cNvSpPr txBox="1"/>
          <p:nvPr/>
        </p:nvSpPr>
        <p:spPr>
          <a:xfrm>
            <a:off x="8092440" y="3264408"/>
            <a:ext cx="1234440" cy="457200"/>
          </a:xfrm>
          <a:prstGeom prst="rect">
            <a:avLst/>
          </a:prstGeom>
          <a:noFill/>
          <a:ln/>
        </p:spPr>
        <p:txBody>
          <a:bodyPr wrap="square" lIns="0" tIns="0" rIns="0" bIns="0" rtlCol="0" anchor="ctr"/>
          <a:lstStyle/>
          <a:p>
            <a:pPr marL="0" indent="0">
              <a:buNone/>
            </a:pPr>
            <a:r>
              <a:rPr lang="en-US" sz="2800" b="1" dirty="0">
                <a:solidFill>
                  <a:srgbClr val="0EA5A4"/>
                </a:solidFill>
                <a:latin typeface="Calibri" pitchFamily="34" charset="0"/>
                <a:ea typeface="Calibri" pitchFamily="34" charset="-122"/>
                <a:cs typeface="Calibri" pitchFamily="34" charset="-120"/>
              </a:rPr>
              <a:t>3</a:t>
            </a:r>
            <a:endParaRPr lang="en-US" sz="2800" dirty="0"/>
          </a:p>
        </p:txBody>
      </p:sp>
      <p:sp>
        <p:nvSpPr>
          <p:cNvPr id="16" name="Text 12"/>
          <p:cNvSpPr txBox="1"/>
          <p:nvPr/>
        </p:nvSpPr>
        <p:spPr>
          <a:xfrm>
            <a:off x="8092440" y="3703320"/>
            <a:ext cx="3291840" cy="384048"/>
          </a:xfrm>
          <a:prstGeom prst="rect">
            <a:avLst/>
          </a:prstGeom>
          <a:noFill/>
          <a:ln/>
        </p:spPr>
        <p:txBody>
          <a:bodyPr wrap="square" lIns="0" tIns="0" rIns="0" bIns="0" rtlCol="0" anchor="ctr"/>
          <a:lstStyle/>
          <a:p>
            <a:pPr marL="0" indent="0">
              <a:buNone/>
            </a:pPr>
            <a:r>
              <a:rPr lang="en-US" sz="1200" dirty="0">
                <a:solidFill>
                  <a:srgbClr val="7C79A6"/>
                </a:solidFill>
                <a:latin typeface="Calibri" pitchFamily="34" charset="0"/>
                <a:ea typeface="Calibri" pitchFamily="34" charset="-122"/>
                <a:cs typeface="Calibri" pitchFamily="34" charset="-120"/>
              </a:rPr>
              <a:t>Secure role-based user logins</a:t>
            </a:r>
            <a:endParaRPr lang="en-US" sz="1200" dirty="0"/>
          </a:p>
        </p:txBody>
      </p:sp>
      <p:sp>
        <p:nvSpPr>
          <p:cNvPr id="17" name="Shape 13"/>
          <p:cNvSpPr/>
          <p:nvPr/>
        </p:nvSpPr>
        <p:spPr>
          <a:xfrm>
            <a:off x="7086600" y="4379976"/>
            <a:ext cx="4462272" cy="1115568"/>
          </a:xfrm>
          <a:prstGeom prst="roundRect">
            <a:avLst>
              <a:gd name="adj" fmla="val 9836"/>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8" name="Shape 14"/>
          <p:cNvSpPr/>
          <p:nvPr/>
        </p:nvSpPr>
        <p:spPr>
          <a:xfrm>
            <a:off x="7360920" y="4654296"/>
            <a:ext cx="566928" cy="566928"/>
          </a:xfrm>
          <a:prstGeom prst="ellipse">
            <a:avLst/>
          </a:prstGeom>
          <a:solidFill>
            <a:srgbClr val="FF6B6B"/>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7498080" y="4791456"/>
            <a:ext cx="292608" cy="292608"/>
          </a:xfrm>
          <a:prstGeom prst="rect">
            <a:avLst/>
          </a:prstGeom>
        </p:spPr>
      </p:pic>
      <p:sp>
        <p:nvSpPr>
          <p:cNvPr id="20" name="Text 15"/>
          <p:cNvSpPr txBox="1"/>
          <p:nvPr/>
        </p:nvSpPr>
        <p:spPr>
          <a:xfrm>
            <a:off x="8092440" y="4562856"/>
            <a:ext cx="1234440" cy="457200"/>
          </a:xfrm>
          <a:prstGeom prst="rect">
            <a:avLst/>
          </a:prstGeom>
          <a:noFill/>
          <a:ln/>
        </p:spPr>
        <p:txBody>
          <a:bodyPr wrap="square" lIns="0" tIns="0" rIns="0" bIns="0" rtlCol="0" anchor="ctr"/>
          <a:lstStyle/>
          <a:p>
            <a:pPr marL="0" indent="0">
              <a:buNone/>
            </a:pPr>
            <a:r>
              <a:rPr lang="en-US" sz="2800" b="1" dirty="0">
                <a:solidFill>
                  <a:srgbClr val="FF6B6B"/>
                </a:solidFill>
                <a:latin typeface="Calibri" pitchFamily="34" charset="0"/>
                <a:ea typeface="Calibri" pitchFamily="34" charset="-122"/>
                <a:cs typeface="Calibri" pitchFamily="34" charset="-120"/>
              </a:rPr>
              <a:t>100%</a:t>
            </a:r>
            <a:endParaRPr lang="en-US" sz="2800" dirty="0"/>
          </a:p>
        </p:txBody>
      </p:sp>
      <p:sp>
        <p:nvSpPr>
          <p:cNvPr id="21" name="Text 16"/>
          <p:cNvSpPr txBox="1"/>
          <p:nvPr/>
        </p:nvSpPr>
        <p:spPr>
          <a:xfrm>
            <a:off x="8092440" y="5001768"/>
            <a:ext cx="3291840" cy="384048"/>
          </a:xfrm>
          <a:prstGeom prst="rect">
            <a:avLst/>
          </a:prstGeom>
          <a:noFill/>
          <a:ln/>
        </p:spPr>
        <p:txBody>
          <a:bodyPr wrap="square" lIns="0" tIns="0" rIns="0" bIns="0" rtlCol="0" anchor="ctr"/>
          <a:lstStyle/>
          <a:p>
            <a:pPr marL="0" indent="0">
              <a:buNone/>
            </a:pPr>
            <a:r>
              <a:rPr lang="en-US" sz="1200" dirty="0">
                <a:solidFill>
                  <a:srgbClr val="7C79A6"/>
                </a:solidFill>
                <a:latin typeface="Calibri" pitchFamily="34" charset="0"/>
                <a:ea typeface="Calibri" pitchFamily="34" charset="-122"/>
                <a:cs typeface="Calibri" pitchFamily="34" charset="-120"/>
              </a:rPr>
              <a:t>Paperless, digitally stored records</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FF6B6B"/>
                </a:solidFill>
                <a:latin typeface="Calibri" pitchFamily="34" charset="0"/>
                <a:ea typeface="Calibri" pitchFamily="34" charset="-122"/>
                <a:cs typeface="Calibri" pitchFamily="34" charset="-120"/>
              </a:rPr>
              <a:t>02  —  THE CHALLENGE</a:t>
            </a:r>
            <a:endParaRPr lang="en-US" sz="1150" dirty="0"/>
          </a:p>
        </p:txBody>
      </p:sp>
      <p:sp>
        <p:nvSpPr>
          <p:cNvPr id="3" name="Text 1"/>
          <p:cNvSpPr txBox="1"/>
          <p:nvPr/>
        </p:nvSpPr>
        <p:spPr>
          <a:xfrm>
            <a:off x="640080" y="676656"/>
            <a:ext cx="9144000" cy="731520"/>
          </a:xfrm>
          <a:prstGeom prst="rect">
            <a:avLst/>
          </a:prstGeom>
          <a:noFill/>
          <a:ln/>
        </p:spPr>
        <p:txBody>
          <a:bodyPr wrap="square" lIns="0" tIns="0" rIns="0" bIns="0" rtlCol="0" anchor="ctr"/>
          <a:lstStyle/>
          <a:p>
            <a:pPr marL="0" indent="0">
              <a:buNone/>
            </a:pPr>
            <a:r>
              <a:rPr lang="en-US" sz="3800" b="1" dirty="0">
                <a:solidFill>
                  <a:srgbClr val="1E1B4B"/>
                </a:solidFill>
                <a:latin typeface="Calibri" pitchFamily="34" charset="0"/>
                <a:ea typeface="Calibri" pitchFamily="34" charset="-122"/>
                <a:cs typeface="Calibri" pitchFamily="34" charset="-120"/>
              </a:rPr>
              <a:t>Problem Statement</a:t>
            </a:r>
            <a:endParaRPr lang="en-US" sz="3800" dirty="0"/>
          </a:p>
        </p:txBody>
      </p:sp>
      <p:sp>
        <p:nvSpPr>
          <p:cNvPr id="4" name="Text 2"/>
          <p:cNvSpPr txBox="1"/>
          <p:nvPr/>
        </p:nvSpPr>
        <p:spPr>
          <a:xfrm>
            <a:off x="640080" y="1481328"/>
            <a:ext cx="10241280" cy="365760"/>
          </a:xfrm>
          <a:prstGeom prst="rect">
            <a:avLst/>
          </a:prstGeom>
          <a:noFill/>
          <a:ln/>
        </p:spPr>
        <p:txBody>
          <a:bodyPr wrap="square" lIns="0" tIns="0" rIns="0" bIns="0" rtlCol="0" anchor="ctr"/>
          <a:lstStyle/>
          <a:p>
            <a:pPr marL="0" indent="0">
              <a:buNone/>
            </a:pPr>
            <a:r>
              <a:rPr lang="en-US" sz="1400" dirty="0">
                <a:solidFill>
                  <a:srgbClr val="7C79A6"/>
                </a:solidFill>
                <a:latin typeface="Calibri" pitchFamily="34" charset="0"/>
                <a:ea typeface="Calibri" pitchFamily="34" charset="-122"/>
                <a:cs typeface="Calibri" pitchFamily="34" charset="-120"/>
              </a:rPr>
              <a:t>The existing manual system is slow, duplicated and difficult to audit. Four issues occur in almost every department:</a:t>
            </a:r>
            <a:endParaRPr lang="en-US" sz="1400" dirty="0"/>
          </a:p>
        </p:txBody>
      </p:sp>
      <p:sp>
        <p:nvSpPr>
          <p:cNvPr id="5" name="Shape 3"/>
          <p:cNvSpPr/>
          <p:nvPr/>
        </p:nvSpPr>
        <p:spPr>
          <a:xfrm>
            <a:off x="640080" y="2148840"/>
            <a:ext cx="5303520" cy="1755648"/>
          </a:xfrm>
          <a:prstGeom prst="roundRect">
            <a:avLst>
              <a:gd name="adj" fmla="val 7292"/>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6" name="Shape 4"/>
          <p:cNvSpPr/>
          <p:nvPr/>
        </p:nvSpPr>
        <p:spPr>
          <a:xfrm>
            <a:off x="950976" y="2478024"/>
            <a:ext cx="713232" cy="713232"/>
          </a:xfrm>
          <a:prstGeom prst="ellipse">
            <a:avLst/>
          </a:prstGeom>
          <a:solidFill>
            <a:srgbClr val="FF6B6B"/>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124712" y="2651760"/>
            <a:ext cx="365760" cy="365760"/>
          </a:xfrm>
          <a:prstGeom prst="rect">
            <a:avLst/>
          </a:prstGeom>
        </p:spPr>
      </p:pic>
      <p:sp>
        <p:nvSpPr>
          <p:cNvPr id="8" name="Text 5"/>
          <p:cNvSpPr txBox="1"/>
          <p:nvPr/>
        </p:nvSpPr>
        <p:spPr>
          <a:xfrm>
            <a:off x="1828800" y="2441448"/>
            <a:ext cx="3913632" cy="329184"/>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Manual, Paper-Heavy Workflow</a:t>
            </a:r>
            <a:endParaRPr lang="en-US" sz="1600" dirty="0"/>
          </a:p>
        </p:txBody>
      </p:sp>
      <p:sp>
        <p:nvSpPr>
          <p:cNvPr id="9" name="Text 6"/>
          <p:cNvSpPr txBox="1"/>
          <p:nvPr/>
        </p:nvSpPr>
        <p:spPr>
          <a:xfrm>
            <a:off x="1828800" y="2807208"/>
            <a:ext cx="3913632" cy="914400"/>
          </a:xfrm>
          <a:prstGeom prst="rect">
            <a:avLst/>
          </a:prstGeom>
          <a:noFill/>
          <a:ln/>
        </p:spPr>
        <p:txBody>
          <a:bodyPr wrap="square" lIns="0" tIns="0" rIns="0" bIns="0" rtlCol="0" anchor="ctr"/>
          <a:lstStyle/>
          <a:p>
            <a:pPr marL="0" indent="0">
              <a:lnSpc>
                <a:spcPts val="1700"/>
              </a:lnSpc>
              <a:buNone/>
            </a:pPr>
            <a:r>
              <a:rPr lang="en-US" sz="1250" dirty="0">
                <a:solidFill>
                  <a:srgbClr val="7C79A6"/>
                </a:solidFill>
                <a:latin typeface="Calibri" pitchFamily="34" charset="0"/>
                <a:ea typeface="Calibri" pitchFamily="34" charset="-122"/>
                <a:cs typeface="Calibri" pitchFamily="34" charset="-120"/>
              </a:rPr>
              <a:t>Admission forms, attendance registers and mark sheets are filled by hand, consuming staff hours and physical storage space.</a:t>
            </a:r>
            <a:endParaRPr lang="en-US" sz="1250" dirty="0"/>
          </a:p>
        </p:txBody>
      </p:sp>
      <p:sp>
        <p:nvSpPr>
          <p:cNvPr id="10" name="Shape 7"/>
          <p:cNvSpPr/>
          <p:nvPr/>
        </p:nvSpPr>
        <p:spPr>
          <a:xfrm>
            <a:off x="6245352" y="2148840"/>
            <a:ext cx="5303520" cy="1755648"/>
          </a:xfrm>
          <a:prstGeom prst="roundRect">
            <a:avLst>
              <a:gd name="adj" fmla="val 7292"/>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1" name="Shape 8"/>
          <p:cNvSpPr/>
          <p:nvPr/>
        </p:nvSpPr>
        <p:spPr>
          <a:xfrm>
            <a:off x="6556248" y="2478024"/>
            <a:ext cx="713232" cy="713232"/>
          </a:xfrm>
          <a:prstGeom prst="ellipse">
            <a:avLst/>
          </a:prstGeom>
          <a:solidFill>
            <a:srgbClr val="F59E0B"/>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6729984" y="2651760"/>
            <a:ext cx="365760" cy="365760"/>
          </a:xfrm>
          <a:prstGeom prst="rect">
            <a:avLst/>
          </a:prstGeom>
        </p:spPr>
      </p:pic>
      <p:sp>
        <p:nvSpPr>
          <p:cNvPr id="13" name="Text 9"/>
          <p:cNvSpPr txBox="1"/>
          <p:nvPr/>
        </p:nvSpPr>
        <p:spPr>
          <a:xfrm>
            <a:off x="7434072" y="2441448"/>
            <a:ext cx="3913632" cy="329184"/>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Scattered, Duplicated Data</a:t>
            </a:r>
            <a:endParaRPr lang="en-US" sz="1600" dirty="0"/>
          </a:p>
        </p:txBody>
      </p:sp>
      <p:sp>
        <p:nvSpPr>
          <p:cNvPr id="14" name="Text 10"/>
          <p:cNvSpPr txBox="1"/>
          <p:nvPr/>
        </p:nvSpPr>
        <p:spPr>
          <a:xfrm>
            <a:off x="7434072" y="2807208"/>
            <a:ext cx="3913632" cy="914400"/>
          </a:xfrm>
          <a:prstGeom prst="rect">
            <a:avLst/>
          </a:prstGeom>
          <a:noFill/>
          <a:ln/>
        </p:spPr>
        <p:txBody>
          <a:bodyPr wrap="square" lIns="0" tIns="0" rIns="0" bIns="0" rtlCol="0" anchor="ctr"/>
          <a:lstStyle/>
          <a:p>
            <a:pPr marL="0" indent="0">
              <a:lnSpc>
                <a:spcPts val="1700"/>
              </a:lnSpc>
              <a:buNone/>
            </a:pPr>
            <a:r>
              <a:rPr lang="en-US" sz="1250" dirty="0">
                <a:solidFill>
                  <a:srgbClr val="7C79A6"/>
                </a:solidFill>
                <a:latin typeface="Calibri" pitchFamily="34" charset="0"/>
                <a:ea typeface="Calibri" pitchFamily="34" charset="-122"/>
                <a:cs typeface="Calibri" pitchFamily="34" charset="-120"/>
              </a:rPr>
              <a:t>The same student detail lives in several files and spreadsheets, so an update in one place leaves the others stale.</a:t>
            </a:r>
            <a:endParaRPr lang="en-US" sz="1250" dirty="0"/>
          </a:p>
        </p:txBody>
      </p:sp>
      <p:sp>
        <p:nvSpPr>
          <p:cNvPr id="15" name="Shape 11"/>
          <p:cNvSpPr/>
          <p:nvPr/>
        </p:nvSpPr>
        <p:spPr>
          <a:xfrm>
            <a:off x="640080" y="4206240"/>
            <a:ext cx="5303520" cy="1755648"/>
          </a:xfrm>
          <a:prstGeom prst="roundRect">
            <a:avLst>
              <a:gd name="adj" fmla="val 7292"/>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6" name="Shape 12"/>
          <p:cNvSpPr/>
          <p:nvPr/>
        </p:nvSpPr>
        <p:spPr>
          <a:xfrm>
            <a:off x="950976" y="4535424"/>
            <a:ext cx="713232" cy="713232"/>
          </a:xfrm>
          <a:prstGeom prst="ellipse">
            <a:avLst/>
          </a:prstGeom>
          <a:solidFill>
            <a:srgbClr val="3B82F6"/>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1124712" y="4709160"/>
            <a:ext cx="365760" cy="365760"/>
          </a:xfrm>
          <a:prstGeom prst="rect">
            <a:avLst/>
          </a:prstGeom>
        </p:spPr>
      </p:pic>
      <p:sp>
        <p:nvSpPr>
          <p:cNvPr id="18" name="Text 13"/>
          <p:cNvSpPr txBox="1"/>
          <p:nvPr/>
        </p:nvSpPr>
        <p:spPr>
          <a:xfrm>
            <a:off x="1828800" y="4498848"/>
            <a:ext cx="3913632" cy="329184"/>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No Real-Time Access</a:t>
            </a:r>
            <a:endParaRPr lang="en-US" sz="1600" dirty="0"/>
          </a:p>
        </p:txBody>
      </p:sp>
      <p:sp>
        <p:nvSpPr>
          <p:cNvPr id="19" name="Text 14"/>
          <p:cNvSpPr txBox="1"/>
          <p:nvPr/>
        </p:nvSpPr>
        <p:spPr>
          <a:xfrm>
            <a:off x="1828800" y="4864608"/>
            <a:ext cx="3913632" cy="914400"/>
          </a:xfrm>
          <a:prstGeom prst="rect">
            <a:avLst/>
          </a:prstGeom>
          <a:noFill/>
          <a:ln/>
        </p:spPr>
        <p:txBody>
          <a:bodyPr wrap="square" lIns="0" tIns="0" rIns="0" bIns="0" rtlCol="0" anchor="ctr"/>
          <a:lstStyle/>
          <a:p>
            <a:pPr marL="0" indent="0">
              <a:lnSpc>
                <a:spcPts val="1700"/>
              </a:lnSpc>
              <a:buNone/>
            </a:pPr>
            <a:r>
              <a:rPr lang="en-US" sz="1250" dirty="0">
                <a:solidFill>
                  <a:srgbClr val="7C79A6"/>
                </a:solidFill>
                <a:latin typeface="Calibri" pitchFamily="34" charset="0"/>
                <a:ea typeface="Calibri" pitchFamily="34" charset="-122"/>
                <a:cs typeface="Calibri" pitchFamily="34" charset="-120"/>
              </a:rPr>
              <a:t>Students and parents cannot check attendance, results or fee status without visiting the office during working hours.</a:t>
            </a:r>
            <a:endParaRPr lang="en-US" sz="1250" dirty="0"/>
          </a:p>
        </p:txBody>
      </p:sp>
      <p:sp>
        <p:nvSpPr>
          <p:cNvPr id="20" name="Shape 15"/>
          <p:cNvSpPr/>
          <p:nvPr/>
        </p:nvSpPr>
        <p:spPr>
          <a:xfrm>
            <a:off x="6245352" y="4206240"/>
            <a:ext cx="5303520" cy="1755648"/>
          </a:xfrm>
          <a:prstGeom prst="roundRect">
            <a:avLst>
              <a:gd name="adj" fmla="val 7292"/>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21" name="Shape 16"/>
          <p:cNvSpPr/>
          <p:nvPr/>
        </p:nvSpPr>
        <p:spPr>
          <a:xfrm>
            <a:off x="6556248" y="4535424"/>
            <a:ext cx="713232" cy="713232"/>
          </a:xfrm>
          <a:prstGeom prst="ellipse">
            <a:avLst/>
          </a:prstGeom>
          <a:solidFill>
            <a:srgbClr val="6D28D9"/>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6729984" y="4709160"/>
            <a:ext cx="365760" cy="365760"/>
          </a:xfrm>
          <a:prstGeom prst="rect">
            <a:avLst/>
          </a:prstGeom>
        </p:spPr>
      </p:pic>
      <p:sp>
        <p:nvSpPr>
          <p:cNvPr id="23" name="Text 17"/>
          <p:cNvSpPr txBox="1"/>
          <p:nvPr/>
        </p:nvSpPr>
        <p:spPr>
          <a:xfrm>
            <a:off x="7434072" y="4498848"/>
            <a:ext cx="3913632" cy="329184"/>
          </a:xfrm>
          <a:prstGeom prst="rect">
            <a:avLst/>
          </a:prstGeom>
          <a:noFill/>
          <a:ln/>
        </p:spPr>
        <p:txBody>
          <a:bodyPr wrap="square" lIns="0" tIns="0" rIns="0" bIns="0" rtlCol="0" anchor="ctr"/>
          <a:lstStyle/>
          <a:p>
            <a:pPr marL="0" indent="0">
              <a:buNone/>
            </a:pPr>
            <a:r>
              <a:rPr lang="en-US" sz="1600" b="1" dirty="0">
                <a:solidFill>
                  <a:srgbClr val="1E1B4B"/>
                </a:solidFill>
                <a:latin typeface="Calibri" pitchFamily="34" charset="0"/>
                <a:ea typeface="Calibri" pitchFamily="34" charset="-122"/>
                <a:cs typeface="Calibri" pitchFamily="34" charset="-120"/>
              </a:rPr>
              <a:t>Error-Prone Reporting</a:t>
            </a:r>
            <a:endParaRPr lang="en-US" sz="1600" dirty="0"/>
          </a:p>
        </p:txBody>
      </p:sp>
      <p:sp>
        <p:nvSpPr>
          <p:cNvPr id="24" name="Text 18"/>
          <p:cNvSpPr txBox="1"/>
          <p:nvPr/>
        </p:nvSpPr>
        <p:spPr>
          <a:xfrm>
            <a:off x="7434072" y="4864608"/>
            <a:ext cx="3913632" cy="914400"/>
          </a:xfrm>
          <a:prstGeom prst="rect">
            <a:avLst/>
          </a:prstGeom>
          <a:noFill/>
          <a:ln/>
        </p:spPr>
        <p:txBody>
          <a:bodyPr wrap="square" lIns="0" tIns="0" rIns="0" bIns="0" rtlCol="0" anchor="ctr"/>
          <a:lstStyle/>
          <a:p>
            <a:pPr marL="0" indent="0">
              <a:lnSpc>
                <a:spcPts val="1700"/>
              </a:lnSpc>
              <a:buNone/>
            </a:pPr>
            <a:r>
              <a:rPr lang="en-US" sz="1250" dirty="0">
                <a:solidFill>
                  <a:srgbClr val="7C79A6"/>
                </a:solidFill>
                <a:latin typeface="Calibri" pitchFamily="34" charset="0"/>
                <a:ea typeface="Calibri" pitchFamily="34" charset="-122"/>
                <a:cs typeface="Calibri" pitchFamily="34" charset="-120"/>
              </a:rPr>
              <a:t>Totals, percentages and defaulter lists are calculated manually, making reports slow to produce and easy to get wrong.</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10332720" y="-1280160"/>
            <a:ext cx="3474720" cy="3474720"/>
          </a:xfrm>
          <a:prstGeom prst="ellipse">
            <a:avLst/>
          </a:prstGeom>
          <a:solidFill>
            <a:srgbClr val="6D28D9">
              <a:alpha val="40000"/>
            </a:srgbClr>
          </a:solidFill>
          <a:ln/>
        </p:spPr>
        <p:txBody>
          <a:bodyPr/>
          <a:lstStyle/>
          <a:p>
            <a:endParaRPr lang="en-IN"/>
          </a:p>
        </p:txBody>
      </p:sp>
      <p:sp>
        <p:nvSpPr>
          <p:cNvPr id="3" name="Text 1"/>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F59E0B"/>
                </a:solidFill>
                <a:latin typeface="Calibri" pitchFamily="34" charset="0"/>
                <a:ea typeface="Calibri" pitchFamily="34" charset="-122"/>
                <a:cs typeface="Calibri" pitchFamily="34" charset="-120"/>
              </a:rPr>
              <a:t>03  —  OUR APPROACH</a:t>
            </a:r>
            <a:endParaRPr lang="en-US" sz="1150" dirty="0"/>
          </a:p>
        </p:txBody>
      </p:sp>
      <p:sp>
        <p:nvSpPr>
          <p:cNvPr id="4" name="Text 2"/>
          <p:cNvSpPr txBox="1"/>
          <p:nvPr/>
        </p:nvSpPr>
        <p:spPr>
          <a:xfrm>
            <a:off x="640080" y="676656"/>
            <a:ext cx="91440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Proposed Solution</a:t>
            </a:r>
            <a:endParaRPr lang="en-US" sz="3800" dirty="0"/>
          </a:p>
        </p:txBody>
      </p:sp>
      <p:sp>
        <p:nvSpPr>
          <p:cNvPr id="5" name="Text 3"/>
          <p:cNvSpPr txBox="1"/>
          <p:nvPr/>
        </p:nvSpPr>
        <p:spPr>
          <a:xfrm>
            <a:off x="640080" y="1536192"/>
            <a:ext cx="9692640" cy="685800"/>
          </a:xfrm>
          <a:prstGeom prst="rect">
            <a:avLst/>
          </a:prstGeom>
          <a:noFill/>
          <a:ln/>
        </p:spPr>
        <p:txBody>
          <a:bodyPr wrap="square" lIns="0" tIns="0" rIns="0" bIns="0" rtlCol="0" anchor="ctr"/>
          <a:lstStyle/>
          <a:p>
            <a:pPr marL="0" indent="0">
              <a:lnSpc>
                <a:spcPts val="2100"/>
              </a:lnSpc>
              <a:buNone/>
            </a:pPr>
            <a:r>
              <a:rPr lang="en-US" sz="1450" dirty="0">
                <a:solidFill>
                  <a:srgbClr val="C7D2FE"/>
                </a:solidFill>
                <a:latin typeface="Calibri" pitchFamily="34" charset="0"/>
                <a:ea typeface="Calibri" pitchFamily="34" charset="-122"/>
                <a:cs typeface="Calibri" pitchFamily="34" charset="-120"/>
              </a:rPr>
              <a:t>A centralised, three-tier web application with role-based access. Data is captured once at the source and flows automatically to every module that needs it.</a:t>
            </a:r>
            <a:endParaRPr lang="en-US" sz="1450" dirty="0"/>
          </a:p>
        </p:txBody>
      </p:sp>
      <p:sp>
        <p:nvSpPr>
          <p:cNvPr id="6" name="Shape 4"/>
          <p:cNvSpPr/>
          <p:nvPr/>
        </p:nvSpPr>
        <p:spPr>
          <a:xfrm>
            <a:off x="640080" y="2395728"/>
            <a:ext cx="2596896" cy="2606040"/>
          </a:xfrm>
          <a:prstGeom prst="roundRect">
            <a:avLst>
              <a:gd name="adj" fmla="val 4930"/>
            </a:avLst>
          </a:prstGeom>
          <a:solidFill>
            <a:srgbClr val="2A2660"/>
          </a:solidFill>
          <a:ln w="12700">
            <a:solidFill>
              <a:srgbClr val="3A3480"/>
            </a:solidFill>
            <a:prstDash val="solid"/>
          </a:ln>
        </p:spPr>
        <p:txBody>
          <a:bodyPr/>
          <a:lstStyle/>
          <a:p>
            <a:endParaRPr lang="en-IN"/>
          </a:p>
        </p:txBody>
      </p:sp>
      <p:sp>
        <p:nvSpPr>
          <p:cNvPr id="7" name="Shape 5"/>
          <p:cNvSpPr/>
          <p:nvPr/>
        </p:nvSpPr>
        <p:spPr>
          <a:xfrm>
            <a:off x="914400" y="2651760"/>
            <a:ext cx="603504" cy="603504"/>
          </a:xfrm>
          <a:prstGeom prst="ellipse">
            <a:avLst/>
          </a:prstGeom>
          <a:solidFill>
            <a:srgbClr val="FF6B6B"/>
          </a:solidFill>
          <a:ln/>
        </p:spPr>
        <p:txBody>
          <a:bodyPr/>
          <a:lstStyle/>
          <a:p>
            <a:endParaRPr lang="en-IN"/>
          </a:p>
        </p:txBody>
      </p:sp>
      <p:sp>
        <p:nvSpPr>
          <p:cNvPr id="8" name="Text 6"/>
          <p:cNvSpPr txBox="1"/>
          <p:nvPr/>
        </p:nvSpPr>
        <p:spPr>
          <a:xfrm>
            <a:off x="914400" y="2651760"/>
            <a:ext cx="603504"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txBox="1"/>
          <p:nvPr/>
        </p:nvSpPr>
        <p:spPr>
          <a:xfrm>
            <a:off x="914400" y="3401568"/>
            <a:ext cx="2048256" cy="310896"/>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Single Database</a:t>
            </a:r>
            <a:endParaRPr lang="en-US" sz="1550" dirty="0"/>
          </a:p>
        </p:txBody>
      </p:sp>
      <p:sp>
        <p:nvSpPr>
          <p:cNvPr id="10" name="Text 8"/>
          <p:cNvSpPr txBox="1"/>
          <p:nvPr/>
        </p:nvSpPr>
        <p:spPr>
          <a:xfrm>
            <a:off x="914400" y="3749040"/>
            <a:ext cx="2048256" cy="1097280"/>
          </a:xfrm>
          <a:prstGeom prst="rect">
            <a:avLst/>
          </a:prstGeom>
          <a:noFill/>
          <a:ln/>
        </p:spPr>
        <p:txBody>
          <a:bodyPr wrap="square" lIns="0" tIns="0" rIns="0" bIns="0" rtlCol="0" anchor="ctr"/>
          <a:lstStyle/>
          <a:p>
            <a:pPr marL="0" indent="0">
              <a:lnSpc>
                <a:spcPts val="1600"/>
              </a:lnSpc>
              <a:buNone/>
            </a:pPr>
            <a:r>
              <a:rPr lang="en-US" sz="1150" dirty="0">
                <a:solidFill>
                  <a:srgbClr val="C7D2FE"/>
                </a:solidFill>
                <a:latin typeface="Calibri" pitchFamily="34" charset="0"/>
                <a:ea typeface="Calibri" pitchFamily="34" charset="-122"/>
                <a:cs typeface="Calibri" pitchFamily="34" charset="-120"/>
              </a:rPr>
              <a:t>One normalised MySQL schema stores students, courses, attendance, marks and fees — no duplicate records.</a:t>
            </a:r>
            <a:endParaRPr lang="en-US" sz="1150" dirty="0"/>
          </a:p>
        </p:txBody>
      </p:sp>
      <p:sp>
        <p:nvSpPr>
          <p:cNvPr id="11" name="Shape 9"/>
          <p:cNvSpPr/>
          <p:nvPr/>
        </p:nvSpPr>
        <p:spPr>
          <a:xfrm>
            <a:off x="3465576" y="2395728"/>
            <a:ext cx="2596896" cy="2606040"/>
          </a:xfrm>
          <a:prstGeom prst="roundRect">
            <a:avLst>
              <a:gd name="adj" fmla="val 4930"/>
            </a:avLst>
          </a:prstGeom>
          <a:solidFill>
            <a:srgbClr val="2A2660"/>
          </a:solidFill>
          <a:ln w="12700">
            <a:solidFill>
              <a:srgbClr val="3A3480"/>
            </a:solidFill>
            <a:prstDash val="solid"/>
          </a:ln>
        </p:spPr>
        <p:txBody>
          <a:bodyPr/>
          <a:lstStyle/>
          <a:p>
            <a:endParaRPr lang="en-IN"/>
          </a:p>
        </p:txBody>
      </p:sp>
      <p:sp>
        <p:nvSpPr>
          <p:cNvPr id="12" name="Shape 10"/>
          <p:cNvSpPr/>
          <p:nvPr/>
        </p:nvSpPr>
        <p:spPr>
          <a:xfrm>
            <a:off x="3739896" y="2651760"/>
            <a:ext cx="603504" cy="603504"/>
          </a:xfrm>
          <a:prstGeom prst="ellipse">
            <a:avLst/>
          </a:prstGeom>
          <a:solidFill>
            <a:srgbClr val="F59E0B"/>
          </a:solidFill>
          <a:ln/>
        </p:spPr>
        <p:txBody>
          <a:bodyPr/>
          <a:lstStyle/>
          <a:p>
            <a:endParaRPr lang="en-IN"/>
          </a:p>
        </p:txBody>
      </p:sp>
      <p:sp>
        <p:nvSpPr>
          <p:cNvPr id="13" name="Text 11"/>
          <p:cNvSpPr txBox="1"/>
          <p:nvPr/>
        </p:nvSpPr>
        <p:spPr>
          <a:xfrm>
            <a:off x="3739896" y="2651760"/>
            <a:ext cx="603504"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txBox="1"/>
          <p:nvPr/>
        </p:nvSpPr>
        <p:spPr>
          <a:xfrm>
            <a:off x="3739896" y="3401568"/>
            <a:ext cx="2048256" cy="310896"/>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Role-Based Logins</a:t>
            </a:r>
            <a:endParaRPr lang="en-US" sz="1550" dirty="0"/>
          </a:p>
        </p:txBody>
      </p:sp>
      <p:sp>
        <p:nvSpPr>
          <p:cNvPr id="15" name="Text 13"/>
          <p:cNvSpPr txBox="1"/>
          <p:nvPr/>
        </p:nvSpPr>
        <p:spPr>
          <a:xfrm>
            <a:off x="3739896" y="3749040"/>
            <a:ext cx="2048256" cy="1097280"/>
          </a:xfrm>
          <a:prstGeom prst="rect">
            <a:avLst/>
          </a:prstGeom>
          <a:noFill/>
          <a:ln/>
        </p:spPr>
        <p:txBody>
          <a:bodyPr wrap="square" lIns="0" tIns="0" rIns="0" bIns="0" rtlCol="0" anchor="ctr"/>
          <a:lstStyle/>
          <a:p>
            <a:pPr marL="0" indent="0">
              <a:lnSpc>
                <a:spcPts val="1600"/>
              </a:lnSpc>
              <a:buNone/>
            </a:pPr>
            <a:r>
              <a:rPr lang="en-US" sz="1150" dirty="0">
                <a:solidFill>
                  <a:srgbClr val="C7D2FE"/>
                </a:solidFill>
                <a:latin typeface="Calibri" pitchFamily="34" charset="0"/>
                <a:ea typeface="Calibri" pitchFamily="34" charset="-122"/>
                <a:cs typeface="Calibri" pitchFamily="34" charset="-120"/>
              </a:rPr>
              <a:t>Admin, Faculty and Student accounts with hashed passwords and permissions scoped to each role.</a:t>
            </a:r>
            <a:endParaRPr lang="en-US" sz="1150" dirty="0"/>
          </a:p>
        </p:txBody>
      </p:sp>
      <p:sp>
        <p:nvSpPr>
          <p:cNvPr id="16" name="Shape 14"/>
          <p:cNvSpPr/>
          <p:nvPr/>
        </p:nvSpPr>
        <p:spPr>
          <a:xfrm>
            <a:off x="6291072" y="2395728"/>
            <a:ext cx="2596896" cy="2606040"/>
          </a:xfrm>
          <a:prstGeom prst="roundRect">
            <a:avLst>
              <a:gd name="adj" fmla="val 4930"/>
            </a:avLst>
          </a:prstGeom>
          <a:solidFill>
            <a:srgbClr val="2A2660"/>
          </a:solidFill>
          <a:ln w="12700">
            <a:solidFill>
              <a:srgbClr val="3A3480"/>
            </a:solidFill>
            <a:prstDash val="solid"/>
          </a:ln>
        </p:spPr>
        <p:txBody>
          <a:bodyPr/>
          <a:lstStyle/>
          <a:p>
            <a:endParaRPr lang="en-IN"/>
          </a:p>
        </p:txBody>
      </p:sp>
      <p:sp>
        <p:nvSpPr>
          <p:cNvPr id="17" name="Shape 15"/>
          <p:cNvSpPr/>
          <p:nvPr/>
        </p:nvSpPr>
        <p:spPr>
          <a:xfrm>
            <a:off x="6565392" y="2651760"/>
            <a:ext cx="603504" cy="603504"/>
          </a:xfrm>
          <a:prstGeom prst="ellipse">
            <a:avLst/>
          </a:prstGeom>
          <a:solidFill>
            <a:srgbClr val="0EA5A4"/>
          </a:solidFill>
          <a:ln/>
        </p:spPr>
        <p:txBody>
          <a:bodyPr/>
          <a:lstStyle/>
          <a:p>
            <a:endParaRPr lang="en-IN"/>
          </a:p>
        </p:txBody>
      </p:sp>
      <p:sp>
        <p:nvSpPr>
          <p:cNvPr id="18" name="Text 16"/>
          <p:cNvSpPr txBox="1"/>
          <p:nvPr/>
        </p:nvSpPr>
        <p:spPr>
          <a:xfrm>
            <a:off x="6565392" y="2651760"/>
            <a:ext cx="603504"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9" name="Text 17"/>
          <p:cNvSpPr txBox="1"/>
          <p:nvPr/>
        </p:nvSpPr>
        <p:spPr>
          <a:xfrm>
            <a:off x="6565392" y="3401568"/>
            <a:ext cx="2048256" cy="310896"/>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Automated Modules</a:t>
            </a:r>
            <a:endParaRPr lang="en-US" sz="1550" dirty="0"/>
          </a:p>
        </p:txBody>
      </p:sp>
      <p:sp>
        <p:nvSpPr>
          <p:cNvPr id="20" name="Text 18"/>
          <p:cNvSpPr txBox="1"/>
          <p:nvPr/>
        </p:nvSpPr>
        <p:spPr>
          <a:xfrm>
            <a:off x="6565392" y="3749040"/>
            <a:ext cx="2048256" cy="1097280"/>
          </a:xfrm>
          <a:prstGeom prst="rect">
            <a:avLst/>
          </a:prstGeom>
          <a:noFill/>
          <a:ln/>
        </p:spPr>
        <p:txBody>
          <a:bodyPr wrap="square" lIns="0" tIns="0" rIns="0" bIns="0" rtlCol="0" anchor="ctr"/>
          <a:lstStyle/>
          <a:p>
            <a:pPr marL="0" indent="0">
              <a:lnSpc>
                <a:spcPts val="1600"/>
              </a:lnSpc>
              <a:buNone/>
            </a:pPr>
            <a:r>
              <a:rPr lang="en-US" sz="1150" dirty="0">
                <a:solidFill>
                  <a:srgbClr val="C7D2FE"/>
                </a:solidFill>
                <a:latin typeface="Calibri" pitchFamily="34" charset="0"/>
                <a:ea typeface="Calibri" pitchFamily="34" charset="-122"/>
                <a:cs typeface="Calibri" pitchFamily="34" charset="-120"/>
              </a:rPr>
              <a:t>Attendance, grade calculation and fee receipts are computed by the system instead of by hand.</a:t>
            </a:r>
            <a:endParaRPr lang="en-US" sz="1150" dirty="0"/>
          </a:p>
        </p:txBody>
      </p:sp>
      <p:sp>
        <p:nvSpPr>
          <p:cNvPr id="21" name="Shape 19"/>
          <p:cNvSpPr/>
          <p:nvPr/>
        </p:nvSpPr>
        <p:spPr>
          <a:xfrm>
            <a:off x="9116568" y="2395728"/>
            <a:ext cx="2596896" cy="2606040"/>
          </a:xfrm>
          <a:prstGeom prst="roundRect">
            <a:avLst>
              <a:gd name="adj" fmla="val 4930"/>
            </a:avLst>
          </a:prstGeom>
          <a:solidFill>
            <a:srgbClr val="2A2660"/>
          </a:solidFill>
          <a:ln w="12700">
            <a:solidFill>
              <a:srgbClr val="3A3480"/>
            </a:solidFill>
            <a:prstDash val="solid"/>
          </a:ln>
        </p:spPr>
        <p:txBody>
          <a:bodyPr/>
          <a:lstStyle/>
          <a:p>
            <a:endParaRPr lang="en-IN"/>
          </a:p>
        </p:txBody>
      </p:sp>
      <p:sp>
        <p:nvSpPr>
          <p:cNvPr id="22" name="Shape 20"/>
          <p:cNvSpPr/>
          <p:nvPr/>
        </p:nvSpPr>
        <p:spPr>
          <a:xfrm>
            <a:off x="9390888" y="2651760"/>
            <a:ext cx="603504" cy="603504"/>
          </a:xfrm>
          <a:prstGeom prst="ellipse">
            <a:avLst/>
          </a:prstGeom>
          <a:solidFill>
            <a:srgbClr val="3B82F6"/>
          </a:solidFill>
          <a:ln/>
        </p:spPr>
        <p:txBody>
          <a:bodyPr/>
          <a:lstStyle/>
          <a:p>
            <a:endParaRPr lang="en-IN"/>
          </a:p>
        </p:txBody>
      </p:sp>
      <p:sp>
        <p:nvSpPr>
          <p:cNvPr id="23" name="Text 21"/>
          <p:cNvSpPr txBox="1"/>
          <p:nvPr/>
        </p:nvSpPr>
        <p:spPr>
          <a:xfrm>
            <a:off x="9390888" y="2651760"/>
            <a:ext cx="603504"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4" name="Text 22"/>
          <p:cNvSpPr txBox="1"/>
          <p:nvPr/>
        </p:nvSpPr>
        <p:spPr>
          <a:xfrm>
            <a:off x="9390888" y="3401568"/>
            <a:ext cx="2048256" cy="310896"/>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Live Dashboards</a:t>
            </a:r>
            <a:endParaRPr lang="en-US" sz="1550" dirty="0"/>
          </a:p>
        </p:txBody>
      </p:sp>
      <p:sp>
        <p:nvSpPr>
          <p:cNvPr id="25" name="Text 23"/>
          <p:cNvSpPr txBox="1"/>
          <p:nvPr/>
        </p:nvSpPr>
        <p:spPr>
          <a:xfrm>
            <a:off x="9390888" y="3749040"/>
            <a:ext cx="2048256" cy="1097280"/>
          </a:xfrm>
          <a:prstGeom prst="rect">
            <a:avLst/>
          </a:prstGeom>
          <a:noFill/>
          <a:ln/>
        </p:spPr>
        <p:txBody>
          <a:bodyPr wrap="square" lIns="0" tIns="0" rIns="0" bIns="0" rtlCol="0" anchor="ctr"/>
          <a:lstStyle/>
          <a:p>
            <a:pPr marL="0" indent="0">
              <a:lnSpc>
                <a:spcPts val="1600"/>
              </a:lnSpc>
              <a:buNone/>
            </a:pPr>
            <a:r>
              <a:rPr lang="en-US" sz="1150" dirty="0">
                <a:solidFill>
                  <a:srgbClr val="C7D2FE"/>
                </a:solidFill>
                <a:latin typeface="Calibri" pitchFamily="34" charset="0"/>
                <a:ea typeface="Calibri" pitchFamily="34" charset="-122"/>
                <a:cs typeface="Calibri" pitchFamily="34" charset="-120"/>
              </a:rPr>
              <a:t>Instant charts, defaulter lists and printable reports available any time, from any browser.</a:t>
            </a:r>
            <a:endParaRPr lang="en-US" sz="1150" dirty="0"/>
          </a:p>
        </p:txBody>
      </p:sp>
      <p:sp>
        <p:nvSpPr>
          <p:cNvPr id="26" name="Shape 24"/>
          <p:cNvSpPr/>
          <p:nvPr/>
        </p:nvSpPr>
        <p:spPr>
          <a:xfrm>
            <a:off x="640080" y="5440680"/>
            <a:ext cx="10908792" cy="841248"/>
          </a:xfrm>
          <a:prstGeom prst="roundRect">
            <a:avLst>
              <a:gd name="adj" fmla="val 15217"/>
            </a:avLst>
          </a:prstGeom>
          <a:solidFill>
            <a:srgbClr val="6D28D9"/>
          </a:solidFill>
          <a:ln/>
        </p:spPr>
        <p:txBody>
          <a:bodyPr/>
          <a:lstStyle/>
          <a:p>
            <a:endParaRPr lang="en-IN"/>
          </a:p>
        </p:txBody>
      </p:sp>
      <p:sp>
        <p:nvSpPr>
          <p:cNvPr id="27" name="Text 25"/>
          <p:cNvSpPr txBox="1"/>
          <p:nvPr/>
        </p:nvSpPr>
        <p:spPr>
          <a:xfrm>
            <a:off x="960120" y="5440680"/>
            <a:ext cx="10241280" cy="84124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Outcome: one source of truth for the institution — accurate records, instant retrieval and reports generated in seconds, not days.</a:t>
            </a:r>
            <a:endParaRPr lang="en-US" sz="1450"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FF6B6B"/>
                </a:solidFill>
                <a:latin typeface="Calibri" pitchFamily="34" charset="0"/>
                <a:ea typeface="Calibri" pitchFamily="34" charset="-122"/>
                <a:cs typeface="Calibri" pitchFamily="34" charset="-120"/>
              </a:rPr>
              <a:t>04  —  TECH STACK</a:t>
            </a:r>
            <a:endParaRPr lang="en-US" sz="1150" dirty="0"/>
          </a:p>
        </p:txBody>
      </p:sp>
      <p:sp>
        <p:nvSpPr>
          <p:cNvPr id="3" name="Text 1"/>
          <p:cNvSpPr txBox="1"/>
          <p:nvPr/>
        </p:nvSpPr>
        <p:spPr>
          <a:xfrm>
            <a:off x="640080" y="676656"/>
            <a:ext cx="9144000" cy="731520"/>
          </a:xfrm>
          <a:prstGeom prst="rect">
            <a:avLst/>
          </a:prstGeom>
          <a:noFill/>
          <a:ln/>
        </p:spPr>
        <p:txBody>
          <a:bodyPr wrap="square" lIns="0" tIns="0" rIns="0" bIns="0" rtlCol="0" anchor="ctr"/>
          <a:lstStyle/>
          <a:p>
            <a:pPr marL="0" indent="0">
              <a:buNone/>
            </a:pPr>
            <a:r>
              <a:rPr lang="en-US" sz="3800" b="1" dirty="0">
                <a:solidFill>
                  <a:srgbClr val="1E1B4B"/>
                </a:solidFill>
                <a:latin typeface="Calibri" pitchFamily="34" charset="0"/>
                <a:ea typeface="Calibri" pitchFamily="34" charset="-122"/>
                <a:cs typeface="Calibri" pitchFamily="34" charset="-120"/>
              </a:rPr>
              <a:t>Technologies Used</a:t>
            </a:r>
            <a:endParaRPr lang="en-US" sz="3800" dirty="0"/>
          </a:p>
        </p:txBody>
      </p:sp>
      <p:sp>
        <p:nvSpPr>
          <p:cNvPr id="4" name="Shape 2"/>
          <p:cNvSpPr/>
          <p:nvPr/>
        </p:nvSpPr>
        <p:spPr>
          <a:xfrm>
            <a:off x="640080" y="1755648"/>
            <a:ext cx="2596896" cy="3401568"/>
          </a:xfrm>
          <a:prstGeom prst="roundRect">
            <a:avLst>
              <a:gd name="adj" fmla="val 4930"/>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5" name="Shape 3"/>
          <p:cNvSpPr/>
          <p:nvPr/>
        </p:nvSpPr>
        <p:spPr>
          <a:xfrm>
            <a:off x="1609344" y="2029968"/>
            <a:ext cx="658368" cy="658368"/>
          </a:xfrm>
          <a:prstGeom prst="ellipse">
            <a:avLst/>
          </a:prstGeom>
          <a:solidFill>
            <a:srgbClr val="FF6B6B"/>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773936" y="2194560"/>
            <a:ext cx="329184" cy="329184"/>
          </a:xfrm>
          <a:prstGeom prst="rect">
            <a:avLst/>
          </a:prstGeom>
        </p:spPr>
      </p:pic>
      <p:sp>
        <p:nvSpPr>
          <p:cNvPr id="7" name="Text 4"/>
          <p:cNvSpPr txBox="1"/>
          <p:nvPr/>
        </p:nvSpPr>
        <p:spPr>
          <a:xfrm>
            <a:off x="822960" y="2798064"/>
            <a:ext cx="2231136" cy="329184"/>
          </a:xfrm>
          <a:prstGeom prst="rect">
            <a:avLst/>
          </a:prstGeom>
          <a:noFill/>
          <a:ln/>
        </p:spPr>
        <p:txBody>
          <a:bodyPr wrap="square" lIns="0" tIns="0" rIns="0" bIns="0" rtlCol="0" anchor="ctr"/>
          <a:lstStyle/>
          <a:p>
            <a:pPr marL="0" indent="0" algn="ctr">
              <a:buNone/>
            </a:pPr>
            <a:r>
              <a:rPr lang="en-US" sz="1750" b="1" dirty="0">
                <a:solidFill>
                  <a:srgbClr val="FF6B6B"/>
                </a:solidFill>
                <a:latin typeface="Calibri" pitchFamily="34" charset="0"/>
                <a:ea typeface="Calibri" pitchFamily="34" charset="-122"/>
                <a:cs typeface="Calibri" pitchFamily="34" charset="-120"/>
              </a:rPr>
              <a:t>Frontend</a:t>
            </a:r>
            <a:endParaRPr lang="en-US" sz="1750" dirty="0"/>
          </a:p>
        </p:txBody>
      </p:sp>
      <p:sp>
        <p:nvSpPr>
          <p:cNvPr id="8" name="Text 5"/>
          <p:cNvSpPr txBox="1"/>
          <p:nvPr/>
        </p:nvSpPr>
        <p:spPr>
          <a:xfrm>
            <a:off x="950976" y="3218688"/>
            <a:ext cx="2048256" cy="17830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HTML5 &amp; CSS3</a:t>
            </a:r>
            <a:endParaRPr lang="en-US" sz="1250" dirty="0"/>
          </a:p>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JavaScript (ES6)</a:t>
            </a:r>
            <a:endParaRPr lang="en-US" sz="1250" dirty="0"/>
          </a:p>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Bootstrap 5</a:t>
            </a:r>
            <a:endParaRPr lang="en-US" sz="1250" dirty="0"/>
          </a:p>
        </p:txBody>
      </p:sp>
      <p:sp>
        <p:nvSpPr>
          <p:cNvPr id="9" name="Shape 6"/>
          <p:cNvSpPr/>
          <p:nvPr/>
        </p:nvSpPr>
        <p:spPr>
          <a:xfrm>
            <a:off x="3465576" y="1755648"/>
            <a:ext cx="2596896" cy="3401568"/>
          </a:xfrm>
          <a:prstGeom prst="roundRect">
            <a:avLst>
              <a:gd name="adj" fmla="val 4930"/>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0" name="Shape 7"/>
          <p:cNvSpPr/>
          <p:nvPr/>
        </p:nvSpPr>
        <p:spPr>
          <a:xfrm>
            <a:off x="4434840" y="2029968"/>
            <a:ext cx="658368" cy="658368"/>
          </a:xfrm>
          <a:prstGeom prst="ellipse">
            <a:avLst/>
          </a:prstGeom>
          <a:solidFill>
            <a:srgbClr val="F59E0B"/>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599432" y="2194560"/>
            <a:ext cx="329184" cy="329184"/>
          </a:xfrm>
          <a:prstGeom prst="rect">
            <a:avLst/>
          </a:prstGeom>
        </p:spPr>
      </p:pic>
      <p:sp>
        <p:nvSpPr>
          <p:cNvPr id="12" name="Text 8"/>
          <p:cNvSpPr txBox="1"/>
          <p:nvPr/>
        </p:nvSpPr>
        <p:spPr>
          <a:xfrm>
            <a:off x="3648456" y="2798064"/>
            <a:ext cx="2231136" cy="329184"/>
          </a:xfrm>
          <a:prstGeom prst="rect">
            <a:avLst/>
          </a:prstGeom>
          <a:noFill/>
          <a:ln/>
        </p:spPr>
        <p:txBody>
          <a:bodyPr wrap="square" lIns="0" tIns="0" rIns="0" bIns="0" rtlCol="0" anchor="ctr"/>
          <a:lstStyle/>
          <a:p>
            <a:pPr marL="0" indent="0" algn="ctr">
              <a:buNone/>
            </a:pPr>
            <a:r>
              <a:rPr lang="en-US" sz="1750" b="1" dirty="0">
                <a:solidFill>
                  <a:srgbClr val="F59E0B"/>
                </a:solidFill>
                <a:latin typeface="Calibri" pitchFamily="34" charset="0"/>
                <a:ea typeface="Calibri" pitchFamily="34" charset="-122"/>
                <a:cs typeface="Calibri" pitchFamily="34" charset="-120"/>
              </a:rPr>
              <a:t>Backend</a:t>
            </a:r>
            <a:endParaRPr lang="en-US" sz="1750" dirty="0"/>
          </a:p>
        </p:txBody>
      </p:sp>
      <p:sp>
        <p:nvSpPr>
          <p:cNvPr id="13" name="Text 9"/>
          <p:cNvSpPr txBox="1"/>
          <p:nvPr/>
        </p:nvSpPr>
        <p:spPr>
          <a:xfrm>
            <a:off x="3776472" y="3218688"/>
            <a:ext cx="2048256" cy="17830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Python 3</a:t>
            </a:r>
            <a:endParaRPr lang="en-US" sz="1250" dirty="0"/>
          </a:p>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Django Framework</a:t>
            </a:r>
            <a:endParaRPr lang="en-US" sz="1250" dirty="0"/>
          </a:p>
        </p:txBody>
      </p:sp>
      <p:sp>
        <p:nvSpPr>
          <p:cNvPr id="14" name="Shape 10"/>
          <p:cNvSpPr/>
          <p:nvPr/>
        </p:nvSpPr>
        <p:spPr>
          <a:xfrm>
            <a:off x="6291072" y="1755648"/>
            <a:ext cx="2596896" cy="3401568"/>
          </a:xfrm>
          <a:prstGeom prst="roundRect">
            <a:avLst>
              <a:gd name="adj" fmla="val 4930"/>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5" name="Shape 11"/>
          <p:cNvSpPr/>
          <p:nvPr/>
        </p:nvSpPr>
        <p:spPr>
          <a:xfrm>
            <a:off x="7260336" y="2029968"/>
            <a:ext cx="658368" cy="658368"/>
          </a:xfrm>
          <a:prstGeom prst="ellipse">
            <a:avLst/>
          </a:prstGeom>
          <a:solidFill>
            <a:srgbClr val="0EA5A4"/>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7424928" y="2194560"/>
            <a:ext cx="329184" cy="329184"/>
          </a:xfrm>
          <a:prstGeom prst="rect">
            <a:avLst/>
          </a:prstGeom>
        </p:spPr>
      </p:pic>
      <p:sp>
        <p:nvSpPr>
          <p:cNvPr id="17" name="Text 12"/>
          <p:cNvSpPr txBox="1"/>
          <p:nvPr/>
        </p:nvSpPr>
        <p:spPr>
          <a:xfrm>
            <a:off x="6473952" y="2798064"/>
            <a:ext cx="2231136" cy="329184"/>
          </a:xfrm>
          <a:prstGeom prst="rect">
            <a:avLst/>
          </a:prstGeom>
          <a:noFill/>
          <a:ln/>
        </p:spPr>
        <p:txBody>
          <a:bodyPr wrap="square" lIns="0" tIns="0" rIns="0" bIns="0" rtlCol="0" anchor="ctr"/>
          <a:lstStyle/>
          <a:p>
            <a:pPr marL="0" indent="0" algn="ctr">
              <a:buNone/>
            </a:pPr>
            <a:r>
              <a:rPr lang="en-US" sz="1750" b="1" dirty="0">
                <a:solidFill>
                  <a:srgbClr val="0EA5A4"/>
                </a:solidFill>
                <a:latin typeface="Calibri" pitchFamily="34" charset="0"/>
                <a:ea typeface="Calibri" pitchFamily="34" charset="-122"/>
                <a:cs typeface="Calibri" pitchFamily="34" charset="-120"/>
              </a:rPr>
              <a:t>Database</a:t>
            </a:r>
            <a:endParaRPr lang="en-US" sz="1750" dirty="0"/>
          </a:p>
        </p:txBody>
      </p:sp>
      <p:sp>
        <p:nvSpPr>
          <p:cNvPr id="18" name="Text 13"/>
          <p:cNvSpPr txBox="1"/>
          <p:nvPr/>
        </p:nvSpPr>
        <p:spPr>
          <a:xfrm>
            <a:off x="6601968" y="3218688"/>
            <a:ext cx="2048256" cy="17830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MySQL 8 / MongoDB</a:t>
            </a:r>
            <a:endParaRPr lang="en-US" sz="1250" dirty="0"/>
          </a:p>
        </p:txBody>
      </p:sp>
      <p:sp>
        <p:nvSpPr>
          <p:cNvPr id="19" name="Shape 14"/>
          <p:cNvSpPr/>
          <p:nvPr/>
        </p:nvSpPr>
        <p:spPr>
          <a:xfrm>
            <a:off x="9116568" y="1755648"/>
            <a:ext cx="2596896" cy="3401568"/>
          </a:xfrm>
          <a:prstGeom prst="roundRect">
            <a:avLst>
              <a:gd name="adj" fmla="val 4930"/>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20" name="Shape 15"/>
          <p:cNvSpPr/>
          <p:nvPr/>
        </p:nvSpPr>
        <p:spPr>
          <a:xfrm>
            <a:off x="10085832" y="2029968"/>
            <a:ext cx="658368" cy="658368"/>
          </a:xfrm>
          <a:prstGeom prst="ellipse">
            <a:avLst/>
          </a:prstGeom>
          <a:solidFill>
            <a:srgbClr val="3B82F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10250424" y="2194560"/>
            <a:ext cx="329184" cy="329184"/>
          </a:xfrm>
          <a:prstGeom prst="rect">
            <a:avLst/>
          </a:prstGeom>
        </p:spPr>
      </p:pic>
      <p:sp>
        <p:nvSpPr>
          <p:cNvPr id="22" name="Text 16"/>
          <p:cNvSpPr txBox="1"/>
          <p:nvPr/>
        </p:nvSpPr>
        <p:spPr>
          <a:xfrm>
            <a:off x="9299448" y="2798064"/>
            <a:ext cx="2231136" cy="329184"/>
          </a:xfrm>
          <a:prstGeom prst="rect">
            <a:avLst/>
          </a:prstGeom>
          <a:noFill/>
          <a:ln/>
        </p:spPr>
        <p:txBody>
          <a:bodyPr wrap="square" lIns="0" tIns="0" rIns="0" bIns="0" rtlCol="0" anchor="ctr"/>
          <a:lstStyle/>
          <a:p>
            <a:pPr marL="0" indent="0" algn="ctr">
              <a:buNone/>
            </a:pPr>
            <a:r>
              <a:rPr lang="en-US" sz="1750" b="1" dirty="0">
                <a:solidFill>
                  <a:srgbClr val="3B82F6"/>
                </a:solidFill>
                <a:latin typeface="Calibri" pitchFamily="34" charset="0"/>
                <a:ea typeface="Calibri" pitchFamily="34" charset="-122"/>
                <a:cs typeface="Calibri" pitchFamily="34" charset="-120"/>
              </a:rPr>
              <a:t>Tools</a:t>
            </a:r>
            <a:endParaRPr lang="en-US" sz="1750" dirty="0"/>
          </a:p>
        </p:txBody>
      </p:sp>
      <p:sp>
        <p:nvSpPr>
          <p:cNvPr id="23" name="Text 17"/>
          <p:cNvSpPr txBox="1"/>
          <p:nvPr/>
        </p:nvSpPr>
        <p:spPr>
          <a:xfrm>
            <a:off x="9427464" y="3218688"/>
            <a:ext cx="2048256" cy="17830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VS Code</a:t>
            </a:r>
            <a:endParaRPr lang="en-US" sz="1250" dirty="0"/>
          </a:p>
          <a:p>
            <a:pPr marL="342900" indent="-342900">
              <a:spcAft>
                <a:spcPts val="600"/>
              </a:spcAft>
              <a:buSzPct val="100000"/>
              <a:buChar char="•"/>
            </a:pPr>
            <a:r>
              <a:rPr lang="en-US" sz="1250" dirty="0">
                <a:solidFill>
                  <a:srgbClr val="45426E"/>
                </a:solidFill>
                <a:latin typeface="Calibri" pitchFamily="34" charset="0"/>
                <a:ea typeface="Calibri" pitchFamily="34" charset="-122"/>
                <a:cs typeface="Calibri" pitchFamily="34" charset="-120"/>
              </a:rPr>
              <a:t>Git &amp; GitHub</a:t>
            </a:r>
            <a:endParaRPr lang="en-US" sz="1250" dirty="0"/>
          </a:p>
        </p:txBody>
      </p:sp>
      <p:sp>
        <p:nvSpPr>
          <p:cNvPr id="24" name="Shape 18"/>
          <p:cNvSpPr/>
          <p:nvPr/>
        </p:nvSpPr>
        <p:spPr>
          <a:xfrm>
            <a:off x="640080" y="5468112"/>
            <a:ext cx="10908792" cy="804672"/>
          </a:xfrm>
          <a:prstGeom prst="roundRect">
            <a:avLst>
              <a:gd name="adj" fmla="val 15909"/>
            </a:avLst>
          </a:prstGeom>
          <a:solidFill>
            <a:srgbClr val="EDE9FE"/>
          </a:solidFill>
          <a:ln/>
        </p:spPr>
        <p:txBody>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FF6B6B"/>
                </a:solidFill>
                <a:latin typeface="Calibri" pitchFamily="34" charset="0"/>
                <a:ea typeface="Calibri" pitchFamily="34" charset="-122"/>
                <a:cs typeface="Calibri" pitchFamily="34" charset="-120"/>
              </a:rPr>
              <a:t>05  —  CAPABILITIES</a:t>
            </a:r>
            <a:endParaRPr lang="en-US" sz="1150" dirty="0"/>
          </a:p>
        </p:txBody>
      </p:sp>
      <p:sp>
        <p:nvSpPr>
          <p:cNvPr id="3" name="Text 1"/>
          <p:cNvSpPr txBox="1"/>
          <p:nvPr/>
        </p:nvSpPr>
        <p:spPr>
          <a:xfrm>
            <a:off x="640080" y="676656"/>
            <a:ext cx="9144000" cy="731520"/>
          </a:xfrm>
          <a:prstGeom prst="rect">
            <a:avLst/>
          </a:prstGeom>
          <a:noFill/>
          <a:ln/>
        </p:spPr>
        <p:txBody>
          <a:bodyPr wrap="square" lIns="0" tIns="0" rIns="0" bIns="0" rtlCol="0" anchor="ctr"/>
          <a:lstStyle/>
          <a:p>
            <a:pPr marL="0" indent="0">
              <a:buNone/>
            </a:pPr>
            <a:r>
              <a:rPr lang="en-US" sz="3800" b="1" dirty="0">
                <a:solidFill>
                  <a:srgbClr val="1E1B4B"/>
                </a:solidFill>
                <a:latin typeface="Calibri" pitchFamily="34" charset="0"/>
                <a:ea typeface="Calibri" pitchFamily="34" charset="-122"/>
                <a:cs typeface="Calibri" pitchFamily="34" charset="-120"/>
              </a:rPr>
              <a:t>Main Features</a:t>
            </a:r>
            <a:endParaRPr lang="en-US" sz="3800" dirty="0"/>
          </a:p>
        </p:txBody>
      </p:sp>
      <p:sp>
        <p:nvSpPr>
          <p:cNvPr id="4" name="Shape 2"/>
          <p:cNvSpPr/>
          <p:nvPr/>
        </p:nvSpPr>
        <p:spPr>
          <a:xfrm>
            <a:off x="640080" y="1700784"/>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5" name="Shape 3"/>
          <p:cNvSpPr/>
          <p:nvPr/>
        </p:nvSpPr>
        <p:spPr>
          <a:xfrm>
            <a:off x="914400" y="2011680"/>
            <a:ext cx="640080" cy="640080"/>
          </a:xfrm>
          <a:prstGeom prst="ellipse">
            <a:avLst/>
          </a:prstGeom>
          <a:solidFill>
            <a:srgbClr val="FF6B6B"/>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69848" y="2167128"/>
            <a:ext cx="329184" cy="329184"/>
          </a:xfrm>
          <a:prstGeom prst="rect">
            <a:avLst/>
          </a:prstGeom>
        </p:spPr>
      </p:pic>
      <p:sp>
        <p:nvSpPr>
          <p:cNvPr id="7" name="Text 4"/>
          <p:cNvSpPr txBox="1"/>
          <p:nvPr/>
        </p:nvSpPr>
        <p:spPr>
          <a:xfrm>
            <a:off x="1719072" y="1938528"/>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Student Registration &amp; Profiles</a:t>
            </a:r>
            <a:endParaRPr lang="en-US" sz="1550" dirty="0"/>
          </a:p>
        </p:txBody>
      </p:sp>
      <p:sp>
        <p:nvSpPr>
          <p:cNvPr id="8" name="Text 5"/>
          <p:cNvSpPr txBox="1"/>
          <p:nvPr/>
        </p:nvSpPr>
        <p:spPr>
          <a:xfrm>
            <a:off x="1719072" y="2276856"/>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Admission, enrolment number generation, documents and complete editable student profiles.</a:t>
            </a:r>
            <a:endParaRPr lang="en-US" sz="1200" dirty="0"/>
          </a:p>
        </p:txBody>
      </p:sp>
      <p:sp>
        <p:nvSpPr>
          <p:cNvPr id="9" name="Shape 6"/>
          <p:cNvSpPr/>
          <p:nvPr/>
        </p:nvSpPr>
        <p:spPr>
          <a:xfrm>
            <a:off x="6245352" y="1700784"/>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0" name="Shape 7"/>
          <p:cNvSpPr/>
          <p:nvPr/>
        </p:nvSpPr>
        <p:spPr>
          <a:xfrm>
            <a:off x="6519672" y="2011680"/>
            <a:ext cx="640080" cy="640080"/>
          </a:xfrm>
          <a:prstGeom prst="ellipse">
            <a:avLst/>
          </a:prstGeom>
          <a:solidFill>
            <a:srgbClr val="F59E0B"/>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675120" y="2167128"/>
            <a:ext cx="329184" cy="329184"/>
          </a:xfrm>
          <a:prstGeom prst="rect">
            <a:avLst/>
          </a:prstGeom>
        </p:spPr>
      </p:pic>
      <p:sp>
        <p:nvSpPr>
          <p:cNvPr id="12" name="Text 8"/>
          <p:cNvSpPr txBox="1"/>
          <p:nvPr/>
        </p:nvSpPr>
        <p:spPr>
          <a:xfrm>
            <a:off x="7324344" y="1938528"/>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Attendance Management</a:t>
            </a:r>
            <a:endParaRPr lang="en-US" sz="1550" dirty="0"/>
          </a:p>
        </p:txBody>
      </p:sp>
      <p:sp>
        <p:nvSpPr>
          <p:cNvPr id="13" name="Text 9"/>
          <p:cNvSpPr txBox="1"/>
          <p:nvPr/>
        </p:nvSpPr>
        <p:spPr>
          <a:xfrm>
            <a:off x="7324344" y="2276856"/>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Subject-wise daily attendance with automatic percentage and shortage alerts.</a:t>
            </a:r>
            <a:endParaRPr lang="en-US" sz="1200" dirty="0"/>
          </a:p>
        </p:txBody>
      </p:sp>
      <p:sp>
        <p:nvSpPr>
          <p:cNvPr id="14" name="Shape 10"/>
          <p:cNvSpPr/>
          <p:nvPr/>
        </p:nvSpPr>
        <p:spPr>
          <a:xfrm>
            <a:off x="640080" y="3182112"/>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15" name="Shape 11"/>
          <p:cNvSpPr/>
          <p:nvPr/>
        </p:nvSpPr>
        <p:spPr>
          <a:xfrm>
            <a:off x="914400" y="3493008"/>
            <a:ext cx="640080" cy="640080"/>
          </a:xfrm>
          <a:prstGeom prst="ellipse">
            <a:avLst/>
          </a:prstGeom>
          <a:solidFill>
            <a:srgbClr val="0EA5A4"/>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1069848" y="3648456"/>
            <a:ext cx="329184" cy="329184"/>
          </a:xfrm>
          <a:prstGeom prst="rect">
            <a:avLst/>
          </a:prstGeom>
        </p:spPr>
      </p:pic>
      <p:sp>
        <p:nvSpPr>
          <p:cNvPr id="17" name="Text 12"/>
          <p:cNvSpPr txBox="1"/>
          <p:nvPr/>
        </p:nvSpPr>
        <p:spPr>
          <a:xfrm>
            <a:off x="1719072" y="3419856"/>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Course &amp; Timetable Module</a:t>
            </a:r>
            <a:endParaRPr lang="en-US" sz="1550" dirty="0"/>
          </a:p>
        </p:txBody>
      </p:sp>
      <p:sp>
        <p:nvSpPr>
          <p:cNvPr id="18" name="Text 13"/>
          <p:cNvSpPr txBox="1"/>
          <p:nvPr/>
        </p:nvSpPr>
        <p:spPr>
          <a:xfrm>
            <a:off x="1719072" y="3758184"/>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Departments, subjects, faculty allocation and clash-free timetable generation.</a:t>
            </a:r>
            <a:endParaRPr lang="en-US" sz="1200" dirty="0"/>
          </a:p>
        </p:txBody>
      </p:sp>
      <p:sp>
        <p:nvSpPr>
          <p:cNvPr id="19" name="Shape 14"/>
          <p:cNvSpPr/>
          <p:nvPr/>
        </p:nvSpPr>
        <p:spPr>
          <a:xfrm>
            <a:off x="6245352" y="3182112"/>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20" name="Shape 15"/>
          <p:cNvSpPr/>
          <p:nvPr/>
        </p:nvSpPr>
        <p:spPr>
          <a:xfrm>
            <a:off x="6519672" y="3493008"/>
            <a:ext cx="640080" cy="640080"/>
          </a:xfrm>
          <a:prstGeom prst="ellipse">
            <a:avLst/>
          </a:prstGeom>
          <a:solidFill>
            <a:srgbClr val="3B82F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675120" y="3648456"/>
            <a:ext cx="329184" cy="329184"/>
          </a:xfrm>
          <a:prstGeom prst="rect">
            <a:avLst/>
          </a:prstGeom>
        </p:spPr>
      </p:pic>
      <p:sp>
        <p:nvSpPr>
          <p:cNvPr id="22" name="Text 16"/>
          <p:cNvSpPr txBox="1"/>
          <p:nvPr/>
        </p:nvSpPr>
        <p:spPr>
          <a:xfrm>
            <a:off x="7324344" y="3419856"/>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Examination &amp; Results</a:t>
            </a:r>
            <a:endParaRPr lang="en-US" sz="1550" dirty="0"/>
          </a:p>
        </p:txBody>
      </p:sp>
      <p:sp>
        <p:nvSpPr>
          <p:cNvPr id="23" name="Text 17"/>
          <p:cNvSpPr txBox="1"/>
          <p:nvPr/>
        </p:nvSpPr>
        <p:spPr>
          <a:xfrm>
            <a:off x="7324344" y="3758184"/>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Internal and semester marks entry, auto grade/GPA calculation and printable grade cards.</a:t>
            </a:r>
            <a:endParaRPr lang="en-US" sz="1200" dirty="0"/>
          </a:p>
        </p:txBody>
      </p:sp>
      <p:sp>
        <p:nvSpPr>
          <p:cNvPr id="24" name="Shape 18"/>
          <p:cNvSpPr/>
          <p:nvPr/>
        </p:nvSpPr>
        <p:spPr>
          <a:xfrm>
            <a:off x="640080" y="4663440"/>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25" name="Shape 19"/>
          <p:cNvSpPr/>
          <p:nvPr/>
        </p:nvSpPr>
        <p:spPr>
          <a:xfrm>
            <a:off x="914400" y="4974336"/>
            <a:ext cx="640080" cy="640080"/>
          </a:xfrm>
          <a:prstGeom prst="ellipse">
            <a:avLst/>
          </a:prstGeom>
          <a:solidFill>
            <a:srgbClr val="6D28D9"/>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1069848" y="5129784"/>
            <a:ext cx="329184" cy="329184"/>
          </a:xfrm>
          <a:prstGeom prst="rect">
            <a:avLst/>
          </a:prstGeom>
        </p:spPr>
      </p:pic>
      <p:sp>
        <p:nvSpPr>
          <p:cNvPr id="27" name="Text 20"/>
          <p:cNvSpPr txBox="1"/>
          <p:nvPr/>
        </p:nvSpPr>
        <p:spPr>
          <a:xfrm>
            <a:off x="1719072" y="4901184"/>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Fee Management</a:t>
            </a:r>
            <a:endParaRPr lang="en-US" sz="1550" dirty="0"/>
          </a:p>
        </p:txBody>
      </p:sp>
      <p:sp>
        <p:nvSpPr>
          <p:cNvPr id="28" name="Text 21"/>
          <p:cNvSpPr txBox="1"/>
          <p:nvPr/>
        </p:nvSpPr>
        <p:spPr>
          <a:xfrm>
            <a:off x="1719072" y="5239512"/>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Fee structures, online payment entry, digital receipts and pending-dues tracking.</a:t>
            </a:r>
            <a:endParaRPr lang="en-US" sz="1200" dirty="0"/>
          </a:p>
        </p:txBody>
      </p:sp>
      <p:sp>
        <p:nvSpPr>
          <p:cNvPr id="29" name="Shape 22"/>
          <p:cNvSpPr/>
          <p:nvPr/>
        </p:nvSpPr>
        <p:spPr>
          <a:xfrm>
            <a:off x="6245352" y="4663440"/>
            <a:ext cx="5303520" cy="1280160"/>
          </a:xfrm>
          <a:prstGeom prst="roundRect">
            <a:avLst>
              <a:gd name="adj" fmla="val 8571"/>
            </a:avLst>
          </a:prstGeom>
          <a:solidFill>
            <a:srgbClr val="FFFFFF"/>
          </a:solidFill>
          <a:ln w="12700">
            <a:solidFill>
              <a:srgbClr val="E6E3F7"/>
            </a:solidFill>
            <a:prstDash val="solid"/>
          </a:ln>
          <a:effectLst>
            <a:outerShdw blurRad="127000" dist="25400" dir="5400000" algn="bl" rotWithShape="0">
              <a:srgbClr val="1E1B4B">
                <a:alpha val="12000"/>
              </a:srgbClr>
            </a:outerShdw>
          </a:effectLst>
        </p:spPr>
        <p:txBody>
          <a:bodyPr/>
          <a:lstStyle/>
          <a:p>
            <a:endParaRPr lang="en-IN"/>
          </a:p>
        </p:txBody>
      </p:sp>
      <p:sp>
        <p:nvSpPr>
          <p:cNvPr id="30" name="Shape 23"/>
          <p:cNvSpPr/>
          <p:nvPr/>
        </p:nvSpPr>
        <p:spPr>
          <a:xfrm>
            <a:off x="6519672" y="4974336"/>
            <a:ext cx="640080" cy="640080"/>
          </a:xfrm>
          <a:prstGeom prst="ellipse">
            <a:avLst/>
          </a:prstGeom>
          <a:solidFill>
            <a:srgbClr val="EC4899"/>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6675120" y="5129784"/>
            <a:ext cx="329184" cy="329184"/>
          </a:xfrm>
          <a:prstGeom prst="rect">
            <a:avLst/>
          </a:prstGeom>
        </p:spPr>
      </p:pic>
      <p:sp>
        <p:nvSpPr>
          <p:cNvPr id="32" name="Text 24"/>
          <p:cNvSpPr txBox="1"/>
          <p:nvPr/>
        </p:nvSpPr>
        <p:spPr>
          <a:xfrm>
            <a:off x="7324344" y="4901184"/>
            <a:ext cx="4041648" cy="301752"/>
          </a:xfrm>
          <a:prstGeom prst="rect">
            <a:avLst/>
          </a:prstGeom>
          <a:noFill/>
          <a:ln/>
        </p:spPr>
        <p:txBody>
          <a:bodyPr wrap="square" lIns="0" tIns="0" rIns="0" bIns="0" rtlCol="0" anchor="ctr"/>
          <a:lstStyle/>
          <a:p>
            <a:pPr marL="0" indent="0">
              <a:buNone/>
            </a:pPr>
            <a:r>
              <a:rPr lang="en-US" sz="1550" b="1" dirty="0">
                <a:solidFill>
                  <a:srgbClr val="1E1B4B"/>
                </a:solidFill>
                <a:latin typeface="Calibri" pitchFamily="34" charset="0"/>
                <a:ea typeface="Calibri" pitchFamily="34" charset="-122"/>
                <a:cs typeface="Calibri" pitchFamily="34" charset="-120"/>
              </a:rPr>
              <a:t>Analytics</a:t>
            </a:r>
            <a:endParaRPr lang="en-US" sz="1550" dirty="0"/>
          </a:p>
        </p:txBody>
      </p:sp>
      <p:sp>
        <p:nvSpPr>
          <p:cNvPr id="33" name="Text 25"/>
          <p:cNvSpPr txBox="1"/>
          <p:nvPr/>
        </p:nvSpPr>
        <p:spPr>
          <a:xfrm>
            <a:off x="7324344" y="5239512"/>
            <a:ext cx="4041648" cy="566928"/>
          </a:xfrm>
          <a:prstGeom prst="rect">
            <a:avLst/>
          </a:prstGeom>
          <a:noFill/>
          <a:ln/>
        </p:spPr>
        <p:txBody>
          <a:bodyPr wrap="square" lIns="0" tIns="0" rIns="0" bIns="0" rtlCol="0" anchor="ctr"/>
          <a:lstStyle/>
          <a:p>
            <a:pPr marL="0" indent="0">
              <a:lnSpc>
                <a:spcPts val="1600"/>
              </a:lnSpc>
              <a:buNone/>
            </a:pPr>
            <a:r>
              <a:rPr lang="en-US" sz="1200" dirty="0">
                <a:solidFill>
                  <a:srgbClr val="7C79A6"/>
                </a:solidFill>
                <a:latin typeface="Calibri" pitchFamily="34" charset="0"/>
                <a:ea typeface="Calibri" pitchFamily="34" charset="-122"/>
                <a:cs typeface="Calibri" pitchFamily="34" charset="-120"/>
              </a:rPr>
              <a:t>Live dashboards plus exportable PDF/Excel reports for every module.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marL="0" indent="0">
              <a:buNone/>
            </a:pPr>
            <a:r>
              <a:rPr lang="en-US" sz="1150" b="1" kern="0" spc="300" dirty="0">
                <a:solidFill>
                  <a:srgbClr val="0EA5A4"/>
                </a:solidFill>
                <a:latin typeface="Calibri" pitchFamily="34" charset="0"/>
                <a:ea typeface="Calibri" pitchFamily="34" charset="-122"/>
                <a:cs typeface="Calibri" pitchFamily="34" charset="-120"/>
              </a:rPr>
              <a:t>06  —  ANALYSIS</a:t>
            </a:r>
            <a:endParaRPr lang="en-US" sz="1150" dirty="0"/>
          </a:p>
        </p:txBody>
      </p:sp>
      <p:sp>
        <p:nvSpPr>
          <p:cNvPr id="3" name="Text 1"/>
          <p:cNvSpPr txBox="1"/>
          <p:nvPr/>
        </p:nvSpPr>
        <p:spPr>
          <a:xfrm>
            <a:off x="1325880" y="740664"/>
            <a:ext cx="9144000" cy="731520"/>
          </a:xfrm>
          <a:prstGeom prst="rect">
            <a:avLst/>
          </a:prstGeom>
          <a:noFill/>
          <a:ln/>
        </p:spPr>
        <p:txBody>
          <a:bodyPr wrap="square" lIns="0" tIns="0" rIns="0" bIns="0" rtlCol="0" anchor="ctr"/>
          <a:lstStyle/>
          <a:p>
            <a:pPr marL="0" indent="0">
              <a:buNone/>
            </a:pPr>
            <a:r>
              <a:rPr lang="en-US" sz="3800" b="1" dirty="0">
                <a:solidFill>
                  <a:srgbClr val="1E1B4B"/>
                </a:solidFill>
                <a:latin typeface="Calibri" pitchFamily="34" charset="0"/>
                <a:ea typeface="Calibri" pitchFamily="34" charset="-122"/>
                <a:cs typeface="Calibri" pitchFamily="34" charset="-120"/>
              </a:rPr>
              <a:t>Conclusion</a:t>
            </a:r>
            <a:endParaRPr lang="en-US" sz="3800" dirty="0"/>
          </a:p>
        </p:txBody>
      </p:sp>
      <p:sp>
        <p:nvSpPr>
          <p:cNvPr id="15" name="Text 11"/>
          <p:cNvSpPr txBox="1"/>
          <p:nvPr/>
        </p:nvSpPr>
        <p:spPr>
          <a:xfrm>
            <a:off x="6309360" y="5614416"/>
            <a:ext cx="1051560" cy="658368"/>
          </a:xfrm>
          <a:prstGeom prst="rect">
            <a:avLst/>
          </a:prstGeom>
          <a:noFill/>
          <a:ln/>
        </p:spPr>
        <p:txBody>
          <a:bodyPr wrap="square" lIns="0" tIns="0" rIns="0" bIns="0" rtlCol="0" anchor="ctr"/>
          <a:lstStyle/>
          <a:p>
            <a:pPr marL="0" indent="0">
              <a:buNone/>
            </a:pPr>
            <a:endParaRPr lang="en-US" sz="2200" dirty="0"/>
          </a:p>
        </p:txBody>
      </p:sp>
      <p:sp>
        <p:nvSpPr>
          <p:cNvPr id="25" name="TextBox 24">
            <a:extLst>
              <a:ext uri="{FF2B5EF4-FFF2-40B4-BE49-F238E27FC236}">
                <a16:creationId xmlns:a16="http://schemas.microsoft.com/office/drawing/2014/main" id="{7C98F41D-1F1C-2517-F759-C9ABADCD05E8}"/>
              </a:ext>
            </a:extLst>
          </p:cNvPr>
          <p:cNvSpPr txBox="1"/>
          <p:nvPr/>
        </p:nvSpPr>
        <p:spPr>
          <a:xfrm>
            <a:off x="1325880" y="1988554"/>
            <a:ext cx="8534112" cy="3139321"/>
          </a:xfrm>
          <a:prstGeom prst="rect">
            <a:avLst/>
          </a:prstGeom>
          <a:noFill/>
        </p:spPr>
        <p:txBody>
          <a:bodyPr wrap="square">
            <a:spAutoFit/>
          </a:bodyPr>
          <a:lstStyle/>
          <a:p>
            <a:pPr algn="just">
              <a:buNone/>
            </a:pPr>
            <a:r>
              <a:rPr lang="en-IN" dirty="0">
                <a:solidFill>
                  <a:schemeClr val="bg1"/>
                </a:solidFill>
              </a:rPr>
              <a:t>The </a:t>
            </a:r>
            <a:r>
              <a:rPr lang="en-IN" b="1" dirty="0">
                <a:solidFill>
                  <a:schemeClr val="bg1"/>
                </a:solidFill>
              </a:rPr>
              <a:t>Student Management System</a:t>
            </a:r>
            <a:r>
              <a:rPr lang="en-IN" dirty="0">
                <a:solidFill>
                  <a:schemeClr val="bg1"/>
                </a:solidFill>
              </a:rPr>
              <a:t> is a useful and efficient project designed to manage student information in a simple and organized way. It helps in storing, updating, searching, and managing student records digitally, reducing manual paperwork and saving time. The system improves accuracy, makes information easier to access, and provides a better way for administrators and teachers to manage student data.</a:t>
            </a:r>
          </a:p>
          <a:p>
            <a:pPr algn="just">
              <a:buNone/>
            </a:pPr>
            <a:r>
              <a:rPr lang="en-IN" dirty="0">
                <a:solidFill>
                  <a:schemeClr val="bg1"/>
                </a:solidFill>
              </a:rPr>
              <a:t>Overall, this project demonstrates how technology can make educational management </a:t>
            </a:r>
            <a:r>
              <a:rPr lang="en-IN" b="1" dirty="0">
                <a:solidFill>
                  <a:schemeClr val="bg1"/>
                </a:solidFill>
              </a:rPr>
              <a:t>faster, easier, and more organized</a:t>
            </a:r>
            <a:r>
              <a:rPr lang="en-IN" dirty="0">
                <a:solidFill>
                  <a:schemeClr val="bg1"/>
                </a:solidFill>
              </a:rPr>
              <a:t>. In the future, the system can be enhanced by adding features such as </a:t>
            </a:r>
            <a:r>
              <a:rPr lang="en-IN" b="1" dirty="0">
                <a:solidFill>
                  <a:schemeClr val="bg1"/>
                </a:solidFill>
              </a:rPr>
              <a:t>attendance management, marks and grades, fee management, student login, notifications, and online reports</a:t>
            </a:r>
            <a:r>
              <a:rPr lang="en-IN" dirty="0">
                <a:solidFill>
                  <a:schemeClr val="bg1"/>
                </a:solidFill>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CDA80A-E3F8-76B5-F16F-A8183E325818}"/>
              </a:ext>
            </a:extLst>
          </p:cNvPr>
          <p:cNvSpPr txBox="1"/>
          <p:nvPr/>
        </p:nvSpPr>
        <p:spPr>
          <a:xfrm>
            <a:off x="7953261" y="-587367"/>
            <a:ext cx="3352375"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spc="300" dirty="0">
                <a:solidFill>
                  <a:srgbClr val="00B050"/>
                </a:solidFill>
                <a:latin typeface="Algerian" panose="04020705040A02060702" pitchFamily="82" charset="0"/>
                <a:ea typeface="+mj-ea"/>
                <a:cs typeface="+mj-cs"/>
              </a:rPr>
              <a:t>THANK</a:t>
            </a:r>
            <a:r>
              <a:rPr lang="en-US" sz="5400" b="0" i="0" kern="1200" dirty="0">
                <a:solidFill>
                  <a:srgbClr val="EBEBEB"/>
                </a:solidFill>
                <a:latin typeface="Algerian" panose="04020705040A02060702" pitchFamily="82" charset="0"/>
                <a:ea typeface="+mj-ea"/>
                <a:cs typeface="+mj-cs"/>
              </a:rPr>
              <a:t> YOU</a:t>
            </a:r>
          </a:p>
        </p:txBody>
      </p:sp>
      <p:sp>
        <p:nvSpPr>
          <p:cNvPr id="24"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7" name="Graphic 6" descr="Smiling Face with No Fill">
            <a:extLst>
              <a:ext uri="{FF2B5EF4-FFF2-40B4-BE49-F238E27FC236}">
                <a16:creationId xmlns:a16="http://schemas.microsoft.com/office/drawing/2014/main" id="{40FDB0F1-8343-A8DA-79E9-62CF778D5E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8115" y="647698"/>
            <a:ext cx="5562139" cy="5562139"/>
          </a:xfrm>
          <a:prstGeom prst="rect">
            <a:avLst/>
          </a:prstGeom>
          <a:effectLst/>
        </p:spPr>
      </p:pic>
      <p:sp>
        <p:nvSpPr>
          <p:cNvPr id="2" name="TextBox 1">
            <a:extLst>
              <a:ext uri="{FF2B5EF4-FFF2-40B4-BE49-F238E27FC236}">
                <a16:creationId xmlns:a16="http://schemas.microsoft.com/office/drawing/2014/main" id="{5C2B4BAE-EE87-5212-D6B9-2CCF44C73A8C}"/>
              </a:ext>
            </a:extLst>
          </p:cNvPr>
          <p:cNvSpPr txBox="1"/>
          <p:nvPr/>
        </p:nvSpPr>
        <p:spPr>
          <a:xfrm>
            <a:off x="8396443" y="2741607"/>
            <a:ext cx="3352375"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spc="300" dirty="0">
                <a:solidFill>
                  <a:srgbClr val="00B050"/>
                </a:solidFill>
                <a:latin typeface="Algerian" panose="04020705040A02060702" pitchFamily="82" charset="0"/>
                <a:ea typeface="+mj-ea"/>
                <a:cs typeface="+mj-cs"/>
              </a:rPr>
              <a:t>Any Queries</a:t>
            </a:r>
            <a:endParaRPr lang="en-US" sz="5400" b="0" i="0" kern="1200" dirty="0">
              <a:solidFill>
                <a:srgbClr val="EBEBEB"/>
              </a:solidFill>
              <a:latin typeface="Algerian" panose="04020705040A02060702" pitchFamily="82" charset="0"/>
              <a:ea typeface="+mj-ea"/>
              <a:cs typeface="+mj-cs"/>
            </a:endParaRPr>
          </a:p>
        </p:txBody>
      </p:sp>
    </p:spTree>
    <p:extLst>
      <p:ext uri="{BB962C8B-B14F-4D97-AF65-F5344CB8AC3E}">
        <p14:creationId xmlns:p14="http://schemas.microsoft.com/office/powerpoint/2010/main" val="248599425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68</TotalTime>
  <Words>958</Words>
  <Application>Microsoft Office PowerPoint</Application>
  <PresentationFormat>Widescreen</PresentationFormat>
  <Paragraphs>108</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Algerian</vt: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dc:title>
  <dc:subject>PptxGenJS Presentation</dc:subject>
  <dc:creator>Project Team</dc:creator>
  <cp:lastModifiedBy>Aarohan</cp:lastModifiedBy>
  <cp:revision>11</cp:revision>
  <dcterms:created xsi:type="dcterms:W3CDTF">2026-09-16T07:22:21Z</dcterms:created>
  <dcterms:modified xsi:type="dcterms:W3CDTF">2026-09-16T09:35:57Z</dcterms:modified>
</cp:coreProperties>
</file>